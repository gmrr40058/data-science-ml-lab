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19" r:id="rId2"/>
    <p:sldId id="318" r:id="rId3"/>
    <p:sldId id="320" r:id="rId4"/>
    <p:sldId id="321" r:id="rId5"/>
    <p:sldId id="322" r:id="rId6"/>
    <p:sldId id="323" r:id="rId7"/>
    <p:sldId id="32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4379" autoAdjust="0"/>
  </p:normalViewPr>
  <p:slideViewPr>
    <p:cSldViewPr snapToGrid="0">
      <p:cViewPr varScale="1">
        <p:scale>
          <a:sx n="45" d="100"/>
          <a:sy n="45" d="100"/>
        </p:scale>
        <p:origin x="209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E2BF06-D203-4617-A560-C7733A511F5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90FB67-A5E0-45F8-8257-8E034A4DD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21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0FB67-A5E0-45F8-8257-8E034A4DD62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97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b="1" dirty="0"/>
              <a:t>Group the Data by Each Category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Take your categorical column (e.g., “Color”).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Group all rows where Color = Red, all where Color = Blue, etc.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This helps us analyze how each category behaves with respect to the target.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Calculate the Mean Target for Each Category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For each category, take its target values and compute the </a:t>
            </a:r>
            <a:r>
              <a:rPr lang="en-US" b="1" dirty="0"/>
              <a:t>average (mean)</a:t>
            </a:r>
            <a:r>
              <a:rPr lang="en-US" dirty="0"/>
              <a:t>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Red → targets = [1, 0] → mean = </a:t>
            </a:r>
            <a:r>
              <a:rPr lang="en-US" b="1" dirty="0"/>
              <a:t>0.5</a:t>
            </a:r>
            <a:endParaRPr lang="en-US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Blue → targets = [1, 1] → mean = </a:t>
            </a:r>
            <a:r>
              <a:rPr lang="en-US" b="1" dirty="0"/>
              <a:t>1.0</a:t>
            </a:r>
            <a:endParaRPr lang="en-US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This number represents how strongly the category is associated with the target.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Replace the Category with This Mean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Every “Red” in the dataset is replaced with </a:t>
            </a:r>
            <a:r>
              <a:rPr lang="en-US" b="1" dirty="0"/>
              <a:t>0.5</a:t>
            </a:r>
            <a:endParaRPr lang="en-US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Every “Blue” is replaced with </a:t>
            </a:r>
            <a:r>
              <a:rPr lang="en-US" b="1" dirty="0"/>
              <a:t>1.0</a:t>
            </a:r>
            <a:endParaRPr lang="en-US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Now the model sees </a:t>
            </a:r>
            <a:r>
              <a:rPr lang="en-US" b="1" dirty="0"/>
              <a:t>meaningful numbers</a:t>
            </a:r>
            <a:r>
              <a:rPr lang="en-US" dirty="0"/>
              <a:t>, not text.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Understand the Interpretation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High encoded value → category often leads to </a:t>
            </a:r>
            <a:r>
              <a:rPr lang="en-US" b="1" dirty="0"/>
              <a:t>positive target</a:t>
            </a:r>
            <a:endParaRPr lang="en-US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Low encoded value → category often leads to </a:t>
            </a:r>
            <a:r>
              <a:rPr lang="en-US" b="1" dirty="0"/>
              <a:t>negative target</a:t>
            </a:r>
            <a:endParaRPr lang="en-US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This helps the model learn useful patterns instead of treating all categories equally.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Be Careful with Rare Categories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If a category appears only once, its mean can be </a:t>
            </a:r>
            <a:r>
              <a:rPr lang="en-US" b="1" dirty="0"/>
              <a:t>misleading (noise)</a:t>
            </a:r>
            <a:r>
              <a:rPr lang="en-US" dirty="0"/>
              <a:t>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Example: “Gold” appears once with target = 1 → mean = </a:t>
            </a:r>
            <a:r>
              <a:rPr lang="en-US" b="1" dirty="0"/>
              <a:t>1.0</a:t>
            </a:r>
            <a:endParaRPr lang="en-US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The model may incorrectly think “Gold always means target = 1”.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Use Smoothing to Prevent Overfitting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Smoothing blends the category mean with the </a:t>
            </a:r>
            <a:r>
              <a:rPr lang="en-US" b="1" dirty="0"/>
              <a:t>overall target mean</a:t>
            </a:r>
            <a:r>
              <a:rPr lang="en-US" dirty="0"/>
              <a:t>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Rare categories get pulled towards the overall mean, reducing </a:t>
            </a:r>
            <a:r>
              <a:rPr lang="en-US" b="1" dirty="0"/>
              <a:t>noise</a:t>
            </a:r>
            <a:r>
              <a:rPr lang="en-US" dirty="0"/>
              <a:t>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Frequent categories keep their true mean.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0FB67-A5E0-45F8-8257-8E034A4DD62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610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98642-1EE6-5D15-CD11-416119DEA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5B0DCD-E5F2-4758-9157-5899D5B791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055138-D4C4-162D-49CF-10A02217C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A649E-9D7A-C00D-53F3-4BB924175F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0FB67-A5E0-45F8-8257-8E034A4DD62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314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945FB-3387-24E1-C7F8-EAEE81346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AD6288-8293-C7F9-EC20-C870B0A2C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101EDD-CFF0-7AB7-A5C6-99C609EA92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dirty="0"/>
              <a:t>Rare Categories Produce Unstable Means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If a category appears only once or twice, its target mean is based on very little data.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Example: Category “Gold” appears once with target = 1 → mean = 1.0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The model may incorrectly think “Gold always means positive target”.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Small Sample Means = Noise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Rare categories often capture random events, not real patterns.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This noise becomes part of the encoded value.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The model memorizes this noise instead of learning true patterns.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The Model Thinks Rare Categories Are Highly Predictive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Even a random single target value (like 1 or 0)</a:t>
            </a:r>
            <a:br>
              <a:rPr lang="en-US" dirty="0"/>
            </a:br>
            <a:r>
              <a:rPr lang="en-US" dirty="0"/>
              <a:t>can produce an extreme encoded value (0 or 1).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The model gets overly confident about these categories → overfitting.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High-Cardinality Columns Make Overfitting Worse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With hundreds or thousands of unique categories,</a:t>
            </a:r>
            <a:br>
              <a:rPr lang="en-US" dirty="0"/>
            </a:br>
            <a:r>
              <a:rPr lang="en-US" dirty="0"/>
              <a:t>many categories will appear only once.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This increases the amount of noise the model memorizes.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Looks Good in Training, Fails in Real Data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Because the model memorizes target values,</a:t>
            </a:r>
            <a:br>
              <a:rPr lang="en-US" dirty="0"/>
            </a:br>
            <a:r>
              <a:rPr lang="en-US" dirty="0"/>
              <a:t>training accuracy becomes artificially high.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But performance drops sharply on unseen data → classic overfitting.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This Is Why We Need Smoothing &amp; K-Fold Encoding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Smoothing protects rare categories.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K-Fold encoding prevents the model from seeing its own target value.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Both reduce overfitting dramatically.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C9481-537D-E4B2-1813-8BC52A8237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0FB67-A5E0-45F8-8257-8E034A4DD62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64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1A8A9-74D9-6015-6123-9EBBBB695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BE815-A004-2C3B-8CEE-725CA9B49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D9A2D8-C846-32FD-DA33-BBB796247A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dirty="0"/>
              <a:t>Why we need smoothing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Rare categories often appear only once or twice, which makes their target mean unreliable.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These unstable means are usually noise rather than real patterns.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If we use these raw means directly, the model may memorize noise and overfit.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Smoothing reduces the influence of these unreliable values.</a:t>
            </a:r>
          </a:p>
          <a:p>
            <a:pPr marL="228600" indent="-228600">
              <a:buFont typeface="+mj-lt"/>
              <a:buAutoNum type="arabicPeriod"/>
            </a:pP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What smoothing does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It blends the category’s own mean with the overall target mean.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This reduces the impact of categories with low frequency.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Smoothing makes the encoded value more stable and trustworthy.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It prevents extreme values from tiny sample counts.</a:t>
            </a:r>
          </a:p>
          <a:p>
            <a:pPr marL="228600" indent="-228600">
              <a:buFont typeface="+mj-lt"/>
              <a:buAutoNum type="arabicPeriod"/>
            </a:pP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How smoothing works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Categories with many samples get more weight on their own mean.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Categories with few samples get more weight on the overall mean.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The final value is a weighted combination of category mean and overall mean.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This weighting reduces noise from rare categories.</a:t>
            </a:r>
          </a:p>
          <a:p>
            <a:pPr marL="228600" indent="-228600">
              <a:buFont typeface="+mj-lt"/>
              <a:buAutoNum type="arabicPeriod"/>
            </a:pP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Example of smoothing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Suppose the overall mean is 0.40.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Category "A" appears 1000 times with a mean of 0.90, so we trust its mean heavily.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Category "Z" appears once with a mean of 1.00, so its value is pulled toward 0.40.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This prevents unreliable categories from generating extreme values.</a:t>
            </a:r>
          </a:p>
          <a:p>
            <a:pPr marL="228600" indent="-228600">
              <a:buFont typeface="+mj-lt"/>
              <a:buAutoNum type="arabicPeriod"/>
            </a:pP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Benefits of smoothing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Reduces overfitting caused by rare categories.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Makes encoded values more consistent and stable.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Improves model performance on unseen data.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Ensures that encoding is guided by reliable statistics.</a:t>
            </a:r>
          </a:p>
          <a:p>
            <a:pPr marL="228600" indent="-228600">
              <a:buFont typeface="+mj-lt"/>
              <a:buAutoNum type="arabicPeriod"/>
            </a:pP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Key point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Smoothing protects the model from trusting noisy category means and ensures each encoded value reflects both local behavior and global stability.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DF865-3F9D-6733-FBE1-36CD8ABD8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0FB67-A5E0-45F8-8257-8E034A4DD62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615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CEFC5-B6E0-426B-C154-6F9AE73B2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798F3D-0E42-9BAE-6022-A867A8CD9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BA796-40A2-D622-FAD3-285E63513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dirty="0"/>
              <a:t>K-Fold Target Encoding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K-Fold target encoding applies target encoding in a way that ensures the model never sees the target value of the row it is trying to predict.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It replaces each category with target-based statistics computed from other parts of the dataset.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This method creates more realistic encoded values and prevents information leakage during training.</a:t>
            </a:r>
            <a:br>
              <a:rPr lang="en-US" dirty="0"/>
            </a:b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Why K-Fold is needed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Normal target encoding uses the entire dataset to compute category means, including the row being predicted.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This accidentally exposes the target value of the same row to the model, which is a form of target leakage.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Because of this, the model performs unrealistically well during training but poorly on unseen data.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K-Fold encoding is needed to avoid this leakage and ensure fair, honest training.</a:t>
            </a:r>
            <a:br>
              <a:rPr lang="en-US" dirty="0"/>
            </a:b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How K-Fold encoding works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The dataset is split into K folds (e.g., 5 or 10).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For each fold, the category means are computed using all the other folds except that one.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The rows inside the fold are encoded using only these out-of-fold statistics.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This way, the encoding for each row is generated without using its own target value.</a:t>
            </a:r>
            <a:br>
              <a:rPr lang="en-US" dirty="0"/>
            </a:b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What happens inside each fold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The model looks at all the other folds and calculates the category mean target from them.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It then maps those means back to the rows inside the current fold.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Categories that appear only inside the fold are assigned fallback values like the overall mean.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Each fold gets its own independent target-encoded values.</a:t>
            </a:r>
          </a:p>
          <a:p>
            <a:pPr marL="228600" indent="-228600">
              <a:buFont typeface="+mj-lt"/>
              <a:buAutoNum type="arabicPeriod"/>
            </a:pP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How it prevents target leakage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Each row is encoded using target information from different rows, never from itself.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This ensures the model cannot cheat by memorizing its own target value.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The encoded values therefore reflect real predictive patterns instead of leaked answers.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This keeps training performance honest and prevents artificially inflated accuracy.</a:t>
            </a:r>
          </a:p>
          <a:p>
            <a:pPr marL="228600" indent="-228600">
              <a:buFont typeface="+mj-lt"/>
              <a:buAutoNum type="arabicPeriod"/>
            </a:pP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Benefits of K-Fold target encoding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Eliminates target leakage completely when used correctly.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Produces target-encoded values that generalize better to unseen data.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Especially effective for high-cardinality categorical features.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Works well with smoothing to reduce noise and overfitting.</a:t>
            </a:r>
          </a:p>
          <a:p>
            <a:pPr marL="228600" indent="-228600">
              <a:buFont typeface="+mj-lt"/>
              <a:buAutoNum type="arabicPeriod"/>
            </a:pP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Key point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K-Fold target encoding ensures each row’s encoded value is created without using its own target, making the process safe, reliable, and free from leakage.</a:t>
            </a:r>
          </a:p>
          <a:p>
            <a:pPr marL="0" indent="0">
              <a:buFont typeface="+mj-lt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8B919-A1CC-0131-3877-CF1FF838E1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0FB67-A5E0-45F8-8257-8E034A4DD6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83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52BD-1B04-5E6C-98D9-1A0691C78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A68581-EAFB-7B76-8CCD-E1C8D02713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41161-E9B1-C544-E0C3-BE6725E63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198F-ECCC-407D-9648-EED4AA1643B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55DCA-BA1E-06B5-670B-04421275F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42A14-F8B6-61B0-A653-7F0B5991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383BF-EDAB-4AFD-AB61-5FC071F84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82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451B2-7B94-E769-1B1D-56AB52290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7C878-2774-626A-9344-241C1E1A0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FFA50-BA89-5EFC-52E8-C95251F43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198F-ECCC-407D-9648-EED4AA1643B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C7953-EF27-07F5-9E03-131575FD2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027AC-93F2-7CF1-D326-85C715623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383BF-EDAB-4AFD-AB61-5FC071F84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30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15C05-A94B-6785-0289-55CAD682D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26C00-138E-0A50-46D2-C7014A56E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E0627-CF50-9986-BBC7-F058ADA77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198F-ECCC-407D-9648-EED4AA1643B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C3FD9-3AAE-C049-CEFA-3EBED7F85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43874-CB2C-E916-32C4-458A75471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383BF-EDAB-4AFD-AB61-5FC071F84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727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F51C7-A768-4A6E-1466-A2437D20F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C9357-DD4C-727A-70E2-0C3D286F45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FBB56C-B579-5F43-EAE4-40CEB6241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85E7EA-E754-10CA-92EC-454C00185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198F-ECCC-407D-9648-EED4AA1643B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984EC-485E-376C-BD5F-23825354B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A5F15-BA3C-8B07-5454-4D7B724FD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383BF-EDAB-4AFD-AB61-5FC071F84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94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F9901-3091-014D-972F-183FC8E87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E11CC-283B-A202-E191-C2935DBC8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582C9E-C8D1-ECD4-B2A0-101D5DD20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FD5728-5D49-F16B-0F6A-E8B083359F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B5B614-A665-015A-01C1-03386CE9E7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350C69-9EDE-F2F6-7E3E-EB25819C7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198F-ECCC-407D-9648-EED4AA1643B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E6397C-2253-3772-9920-AA44A52E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010C72-CDD4-0272-9238-D930E1793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383BF-EDAB-4AFD-AB61-5FC071F84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011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C83A8-05C1-E3F6-4F3B-8A2AC2E6F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16BE45-B294-F105-5B46-A7787F2E7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198F-ECCC-407D-9648-EED4AA1643B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6DB4FC-5550-3293-6553-30ADB2D86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B412A8-6C69-A11F-7A49-DAF9E5B1C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383BF-EDAB-4AFD-AB61-5FC071F84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120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C44114-F7BD-F152-165F-4D5ADB899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198F-ECCC-407D-9648-EED4AA1643B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261834-7571-6AD6-0AEE-0A79612E3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AF708-7046-A944-F580-1F53530F1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383BF-EDAB-4AFD-AB61-5FC071F84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88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C9A18-EFBE-E68B-AC6E-986956F1A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05DD1-E9BF-44D9-2017-9AD6C3500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6D8D2C-0669-9223-A6FD-1E20239E1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6763D-937A-4A11-6107-4B879DED3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198F-ECCC-407D-9648-EED4AA1643B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80059-FA71-CA52-5DE2-32F2FDCC7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066ED-EEEC-05AA-BA97-12AACB199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383BF-EDAB-4AFD-AB61-5FC071F84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923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7AB53-3923-5F80-76D6-E8CC168A3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1E7CAF-FB8F-CB2F-F50B-7E0C34DD53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0923F3-908F-5A31-8473-20CB6A8ECE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5B7412-6E88-B3DE-F28B-8D89753C4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198F-ECCC-407D-9648-EED4AA1643B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C7F65-F516-0F6C-DDF7-DEF265D49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15744-9F1D-8991-C08E-9893AFA20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383BF-EDAB-4AFD-AB61-5FC071F84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30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FADC0-B09D-3DA9-1EF3-DF3B20486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39B76A-278C-0AD6-9FFB-D0B84CD29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C1C2E-7408-632D-15C5-5DB5A237D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198F-ECCC-407D-9648-EED4AA1643B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328E1-439C-B533-8000-1B31C47FC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01107-D3E3-0508-DE35-F9BBB01A0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383BF-EDAB-4AFD-AB61-5FC071F84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287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23AFA9-A652-DE25-11B4-EFB5E4F7C0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CD1E06-3C2C-C300-A1CC-399782451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2FE52-E5BB-2983-C81F-EF98DCEDA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198F-ECCC-407D-9648-EED4AA1643B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B68D2-8843-1640-1405-28B9B697B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94E39-8785-A8F3-B5B2-76E806CA9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383BF-EDAB-4AFD-AB61-5FC071F84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98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F2355B-BA57-1452-868D-10396A8F9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55BF5-EE62-7CC6-B354-F3EF36FD4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60936-1821-9D48-ED38-F5EE0C0053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B198F-ECCC-407D-9648-EED4AA1643B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0AB77-0572-49BC-F819-A8F20734E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83088-B261-581A-7D74-16B78EF40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383BF-EDAB-4AFD-AB61-5FC071F84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208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5253-957F-FAAB-CBA0-F5DE0CA736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000" dirty="0">
                <a:latin typeface="Bebas Neue" panose="020B0606020202050201" pitchFamily="34" charset="0"/>
              </a:rPr>
              <a:t>Target encoding in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8DF00B-8BE7-56B4-161E-B995F9354D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Encoding Categorical Features Using Target-Based Statistical Mapping</a:t>
            </a:r>
          </a:p>
        </p:txBody>
      </p:sp>
    </p:spTree>
    <p:extLst>
      <p:ext uri="{BB962C8B-B14F-4D97-AF65-F5344CB8AC3E}">
        <p14:creationId xmlns:p14="http://schemas.microsoft.com/office/powerpoint/2010/main" val="882474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E1E38-FE52-92FB-4271-5A11C77F1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72A10-F79A-7152-D840-4A3277375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What is target encoding?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5AA84-B95E-8D61-9797-15F1C4080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Definition</a:t>
            </a:r>
          </a:p>
          <a:p>
            <a:pPr lvl="1" algn="just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 method that replaces each category with a numeric value computed from the target (label).</a:t>
            </a:r>
          </a:p>
          <a:p>
            <a:pPr lvl="1" algn="just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Usually, the mean target value for that category (e.g., average of 0/1).</a:t>
            </a:r>
          </a:p>
          <a:p>
            <a:pPr marL="0" indent="0" algn="just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Key Concepts</a:t>
            </a:r>
          </a:p>
          <a:p>
            <a:pPr lvl="1" algn="just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Categories that mostly appear with target = 1 get higher encoded values.</a:t>
            </a:r>
          </a:p>
          <a:p>
            <a:pPr lvl="1" algn="just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Categories that mostly appear with target = 0 get lower encoded values.</a:t>
            </a:r>
          </a:p>
          <a:p>
            <a:pPr lvl="1" algn="just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Rare categories can produce unreliable (noisy) means → leads to overfitting.</a:t>
            </a:r>
          </a:p>
          <a:p>
            <a:pPr marL="0" indent="0" algn="just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Important Note</a:t>
            </a:r>
          </a:p>
          <a:p>
            <a:pPr lvl="1" algn="just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Target encoding must be applied carefully because it can create target leakage if not done properly.</a:t>
            </a:r>
          </a:p>
        </p:txBody>
      </p:sp>
    </p:spTree>
    <p:extLst>
      <p:ext uri="{BB962C8B-B14F-4D97-AF65-F5344CB8AC3E}">
        <p14:creationId xmlns:p14="http://schemas.microsoft.com/office/powerpoint/2010/main" val="391801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D0B04-C736-EE20-BE36-A11C72179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E3C72-4005-077F-AD68-CFBFCACF9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How target encoding works?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F56FD-3F96-F2E9-E738-C5FEBAB95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457200" indent="-457200" algn="just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Group the Data by each category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Calculate the Mean Target for Each Category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Replace the Category with This Mean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Understand the interpretation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Be Careful with Rare Categories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Use Smoothing to Prevent Overfitting</a:t>
            </a:r>
          </a:p>
        </p:txBody>
      </p:sp>
    </p:spTree>
    <p:extLst>
      <p:ext uri="{BB962C8B-B14F-4D97-AF65-F5344CB8AC3E}">
        <p14:creationId xmlns:p14="http://schemas.microsoft.com/office/powerpoint/2010/main" val="2045504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C8A5B-F723-E273-772E-ABFA511DC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B8FFF-4155-6839-02DB-1EDB1AD74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Step-by-Step Example of Target Encoding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06903-44B1-93B4-FC56-429F65084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 algn="just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 algn="just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 algn="just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 algn="just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 algn="just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 algn="just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 algn="just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3C7555C2-1619-3424-4223-520E6AAD64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41895"/>
              </p:ext>
            </p:extLst>
          </p:nvPr>
        </p:nvGraphicFramePr>
        <p:xfrm>
          <a:off x="1201855" y="1005205"/>
          <a:ext cx="3053144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180">
                  <a:extLst>
                    <a:ext uri="{9D8B030D-6E8A-4147-A177-3AD203B41FA5}">
                      <a16:colId xmlns:a16="http://schemas.microsoft.com/office/drawing/2014/main" val="844167612"/>
                    </a:ext>
                  </a:extLst>
                </a:gridCol>
                <a:gridCol w="1993964">
                  <a:extLst>
                    <a:ext uri="{9D8B030D-6E8A-4147-A177-3AD203B41FA5}">
                      <a16:colId xmlns:a16="http://schemas.microsoft.com/office/drawing/2014/main" val="3343932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Purchased (Target)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1370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2163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037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881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592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Green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337470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3581E3C-FBCC-6886-F3C7-FC4C5DB55BA0}"/>
              </a:ext>
            </a:extLst>
          </p:cNvPr>
          <p:cNvSpPr txBox="1"/>
          <p:nvPr/>
        </p:nvSpPr>
        <p:spPr>
          <a:xfrm flipH="1">
            <a:off x="838199" y="4730413"/>
            <a:ext cx="3780455" cy="14465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Group Rows by Category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Group all “Red” rows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Group all “Blue” rows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Group all “Green” rows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D549A7-2122-32FF-07C8-A408A4EC5C74}"/>
              </a:ext>
            </a:extLst>
          </p:cNvPr>
          <p:cNvSpPr txBox="1"/>
          <p:nvPr/>
        </p:nvSpPr>
        <p:spPr>
          <a:xfrm flipH="1">
            <a:off x="6662055" y="4724166"/>
            <a:ext cx="4907899" cy="14465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Calculate Mean Target for Each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CategoryRed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: [1, 0] → mean = 0.5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Blue: [1, 1] → mean = 1.0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Green: [0] → mean = 0.0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81D36D68-6FD9-A6F5-55FA-1A2808EA41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316975"/>
              </p:ext>
            </p:extLst>
          </p:nvPr>
        </p:nvGraphicFramePr>
        <p:xfrm>
          <a:off x="7481356" y="1040026"/>
          <a:ext cx="3053144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180">
                  <a:extLst>
                    <a:ext uri="{9D8B030D-6E8A-4147-A177-3AD203B41FA5}">
                      <a16:colId xmlns:a16="http://schemas.microsoft.com/office/drawing/2014/main" val="844167612"/>
                    </a:ext>
                  </a:extLst>
                </a:gridCol>
                <a:gridCol w="1993964">
                  <a:extLst>
                    <a:ext uri="{9D8B030D-6E8A-4147-A177-3AD203B41FA5}">
                      <a16:colId xmlns:a16="http://schemas.microsoft.com/office/drawing/2014/main" val="3343932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Encoded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1370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2163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037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881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592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Green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3374708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1FED051-879C-CB6B-2B8C-DB961AA72205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2728426" y="3900805"/>
            <a:ext cx="1" cy="82960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8F32645-171B-FF77-A865-368201FE795C}"/>
              </a:ext>
            </a:extLst>
          </p:cNvPr>
          <p:cNvCxnSpPr>
            <a:cxnSpLocks/>
            <a:stCxn id="9" idx="1"/>
            <a:endCxn id="10" idx="3"/>
          </p:cNvCxnSpPr>
          <p:nvPr/>
        </p:nvCxnSpPr>
        <p:spPr>
          <a:xfrm flipV="1">
            <a:off x="4618654" y="5447441"/>
            <a:ext cx="2043401" cy="624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5B69CC3-D0B4-9CA1-836C-081EA03E5B8F}"/>
              </a:ext>
            </a:extLst>
          </p:cNvPr>
          <p:cNvCxnSpPr>
            <a:cxnSpLocks/>
            <a:stCxn id="10" idx="0"/>
            <a:endCxn id="11" idx="2"/>
          </p:cNvCxnSpPr>
          <p:nvPr/>
        </p:nvCxnSpPr>
        <p:spPr>
          <a:xfrm flipH="1" flipV="1">
            <a:off x="9007928" y="3935626"/>
            <a:ext cx="108076" cy="78854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B31CF67-EB21-F728-69D7-0E37F550BA0B}"/>
              </a:ext>
            </a:extLst>
          </p:cNvPr>
          <p:cNvSpPr txBox="1"/>
          <p:nvPr/>
        </p:nvSpPr>
        <p:spPr>
          <a:xfrm flipH="1">
            <a:off x="4618653" y="1012034"/>
            <a:ext cx="2499046" cy="31700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Interpretation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0.0</a:t>
            </a:r>
            <a:r>
              <a:rPr lang="en-US" sz="2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→ category almost never produces a positive target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0.5</a:t>
            </a:r>
            <a:r>
              <a:rPr lang="en-US" sz="2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→ category is neutral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1.0</a:t>
            </a:r>
            <a:r>
              <a:rPr lang="en-US" sz="2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→ category strongly predicts a positive target</a:t>
            </a:r>
          </a:p>
        </p:txBody>
      </p:sp>
    </p:spTree>
    <p:extLst>
      <p:ext uri="{BB962C8B-B14F-4D97-AF65-F5344CB8AC3E}">
        <p14:creationId xmlns:p14="http://schemas.microsoft.com/office/powerpoint/2010/main" val="2701812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FF520-09A5-DC33-6ADA-7B27B9AB3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77E77-5284-7DBA-741E-2296445BE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Why Overfitting Happens in Target Encoding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6C941-6FE5-5E6E-6D1E-B2E2935D5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457200" indent="-457200" algn="just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Rare categories produce unstable means.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Small sample means introduce noise.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The model becomes overly confident about rare categories.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High-cardinality columns increase overfitting.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Training performance looks good but fails on real data.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Smoothing and K-Fold encoding are needed to reduce overfitting.</a:t>
            </a:r>
          </a:p>
        </p:txBody>
      </p:sp>
    </p:spTree>
    <p:extLst>
      <p:ext uri="{BB962C8B-B14F-4D97-AF65-F5344CB8AC3E}">
        <p14:creationId xmlns:p14="http://schemas.microsoft.com/office/powerpoint/2010/main" val="3926478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DF725-6728-B9F4-A868-0E55A97F0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90130-D9A8-C589-54D9-72B1068C3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Smoothing in Target Encoding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25320-6ADB-0EB0-5087-00A36E887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457200" indent="-457200" algn="just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Why we need smoothing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What smoothing does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How smoothing works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Example of smoothing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Benefits of smoothing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Key point</a:t>
            </a:r>
          </a:p>
        </p:txBody>
      </p:sp>
    </p:spTree>
    <p:extLst>
      <p:ext uri="{BB962C8B-B14F-4D97-AF65-F5344CB8AC3E}">
        <p14:creationId xmlns:p14="http://schemas.microsoft.com/office/powerpoint/2010/main" val="868717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A1361-AD5D-50FB-7D4E-D543C5B7E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1F062-1BA0-497C-2650-7F069F101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K-Fold Target Encoding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04388-C7C5-E5D6-66C2-8157B5DDA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K-Fold Target Encoding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Why K-Fold is needed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How K-Fold encoding works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What happens inside each fold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How it prevents target leakage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Benefits of K-Fold target encoding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Key point</a:t>
            </a:r>
          </a:p>
        </p:txBody>
      </p:sp>
    </p:spTree>
    <p:extLst>
      <p:ext uri="{BB962C8B-B14F-4D97-AF65-F5344CB8AC3E}">
        <p14:creationId xmlns:p14="http://schemas.microsoft.com/office/powerpoint/2010/main" val="1907120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1529</Words>
  <Application>Microsoft Office PowerPoint</Application>
  <PresentationFormat>Widescreen</PresentationFormat>
  <Paragraphs>203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Bebas Neue</vt:lpstr>
      <vt:lpstr>Calibri</vt:lpstr>
      <vt:lpstr>Calibri Light</vt:lpstr>
      <vt:lpstr>Open Sans</vt:lpstr>
      <vt:lpstr>Office Theme</vt:lpstr>
      <vt:lpstr>Target encoding in Machine Learning</vt:lpstr>
      <vt:lpstr>What is target encoding?</vt:lpstr>
      <vt:lpstr>How target encoding works?</vt:lpstr>
      <vt:lpstr>Step-by-Step Example of Target Encoding</vt:lpstr>
      <vt:lpstr>Why Overfitting Happens in Target Encoding</vt:lpstr>
      <vt:lpstr>Smoothing in Target Encoding</vt:lpstr>
      <vt:lpstr>K-Fold Target Encoding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 M RIFAT REZA</dc:creator>
  <cp:lastModifiedBy>G M RIFAT REZA</cp:lastModifiedBy>
  <cp:revision>9</cp:revision>
  <dcterms:created xsi:type="dcterms:W3CDTF">2025-11-26T13:16:32Z</dcterms:created>
  <dcterms:modified xsi:type="dcterms:W3CDTF">2025-11-30T11:34:11Z</dcterms:modified>
</cp:coreProperties>
</file>
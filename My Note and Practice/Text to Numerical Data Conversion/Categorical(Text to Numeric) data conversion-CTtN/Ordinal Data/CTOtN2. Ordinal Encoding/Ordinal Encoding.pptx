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19" r:id="rId2"/>
    <p:sldId id="318" r:id="rId3"/>
    <p:sldId id="320" r:id="rId4"/>
    <p:sldId id="321" r:id="rId5"/>
    <p:sldId id="322" r:id="rId6"/>
    <p:sldId id="323" r:id="rId7"/>
    <p:sldId id="324" r:id="rId8"/>
    <p:sldId id="327" r:id="rId9"/>
    <p:sldId id="325" r:id="rId10"/>
    <p:sldId id="326" r:id="rId11"/>
    <p:sldId id="328" r:id="rId12"/>
    <p:sldId id="330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EFA9CE42-D242-F516-DDE6-42EB9D9CEC98}" name="G M RIFAT REZA" initials="GR" userId="ac0b816459470a8a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41699" autoAdjust="0"/>
  </p:normalViewPr>
  <p:slideViewPr>
    <p:cSldViewPr snapToGrid="0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B5690B-1D6D-4F35-AD45-CC03730E7278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6B017D2-6350-4EE4-934F-0B042922AB1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264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Preserves Intrinsic Order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Maintains the natural ranking between categories.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Critical for models that benefit from monotonic relationships.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Simpler Representation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Converts categories into a 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single numeric feature</a:t>
            </a: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avoiding dimensionality explosion (unlike One-Hot Encoding).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Efficient for High-Cardinality Ordered Features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Works well when the feature has many ordered levels (e.g., credit scores, risk grades).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Model-Friendly for Certain Algorithms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Tree-based models (Decision Trees, Random Forests, Gradient Boosting) handle ordinal integers effectively.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Reduces tree depth by representing rank as a continuous scale.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Improves Interpretability in Linear Models (When Spacing Is Meaningful)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Coefficients directly measure the effect of moving one level up in the ordinal scale.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Enables monotonic constraints in modeling.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Computationally Efficient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28650" lvl="1" indent="-17145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Requires minimal memory and significantly faster processing than one-hot or binary encoding.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9164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4539A-2632-0CC7-BC39-E0E40C4AB4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767A282-9D76-9696-F9E7-D9AB95DE2D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2F73E70-245D-81C9-A07C-D30C6D55F4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 algn="l" rtl="0">
              <a:buSzPct val="100000"/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Assumes Equal Spacing Between Categories</a:t>
            </a:r>
          </a:p>
          <a:p>
            <a:pPr marL="685800" lvl="2" indent="-228600" algn="l" rtl="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Numerical encoding (0,1,2,3…) implies 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uniform distance</a:t>
            </a: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between levels.</a:t>
            </a:r>
          </a:p>
          <a:p>
            <a:pPr marL="685800" lvl="2" indent="-228600" algn="l" rtl="0"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Often unrealistic (e.g., Mild → Moderate is not equal to Moderate → Severe).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Imposes False Linear Relationships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Linear/Logistic Regression interpret encoded values as 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linearly increasing effects</a:t>
            </a: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Can distort model coefficients and predictions.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Risk of Misinterpretation by Distance-Based Models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KNN, </a:t>
            </a:r>
            <a:r>
              <a:rPr lang="en-US" sz="16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SVM</a:t>
            </a: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and clustering algorithms treat category differences as 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numerical distances</a:t>
            </a: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leading to incorrect similarity measures.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Sensitive to Incorrect Ordering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If the defined category order is wrong, the model learns 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misleading monotonic patterns</a:t>
            </a: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Problematic for Nominal Data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ordinal encoding on unordered categories (e.g., colors) introduces 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fake hierarchy</a:t>
            </a: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causing model bias.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May Cause Overfitting in Tree Models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Trees may perform unnecessary splits based on ordinal numeric thresholds that do not represent real-world boundaries.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Poor Performance in Non-Monotonic Relationships</a:t>
            </a: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If the true relationship between category and target is </a:t>
            </a:r>
            <a:r>
              <a:rPr lang="en-US" sz="16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non-linear or non-monotonic</a:t>
            </a: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, ordinal encoding misleads the model.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2039CC-0D5A-2EB1-D707-927E183D57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54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FA740F-1251-7483-0158-F9DD5294CD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78C213-AE62-2B32-8102-209436EA9A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E4972D-1DEC-B3EC-2B49-991B0C4ECC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600" b="1" dirty="0"/>
              <a:t>⭐ Step 1 — What does “monotonic” mean?</a:t>
            </a:r>
          </a:p>
          <a:p>
            <a:r>
              <a:rPr lang="en-US" sz="1600" b="1" dirty="0"/>
              <a:t>Monotonic = always moving in one direction.</a:t>
            </a:r>
            <a:endParaRPr lang="en-US" sz="1600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b="1" dirty="0"/>
              <a:t>Always increasing</a:t>
            </a:r>
            <a:r>
              <a:rPr lang="en-US" sz="1600" dirty="0"/>
              <a:t> (goes up, up, up…) or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b="1" dirty="0"/>
              <a:t>Always decreasing</a:t>
            </a:r>
            <a:r>
              <a:rPr lang="en-US" sz="1600" dirty="0"/>
              <a:t> (goes down, down, down…)</a:t>
            </a:r>
          </a:p>
          <a:p>
            <a:r>
              <a:rPr lang="en-US" sz="1600" dirty="0"/>
              <a:t>👉 It </a:t>
            </a:r>
            <a:r>
              <a:rPr lang="en-US" sz="1600" b="1" dirty="0"/>
              <a:t>never goes up then down</a:t>
            </a:r>
            <a:r>
              <a:rPr lang="en-US" sz="1600" dirty="0"/>
              <a:t>, or down then up.</a:t>
            </a:r>
          </a:p>
          <a:p>
            <a:r>
              <a:rPr lang="en-US" sz="1600" dirty="0"/>
              <a:t>That’s it.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⭐ Step 2 — What does “monotonic progression” mean in ML?</a:t>
            </a:r>
          </a:p>
          <a:p>
            <a:r>
              <a:rPr lang="en-US" sz="1600" dirty="0"/>
              <a:t>It means:</a:t>
            </a:r>
          </a:p>
          <a:p>
            <a:r>
              <a:rPr lang="en-US" sz="1600" dirty="0"/>
              <a:t>“As category levels go up, the target value should also go up (or always go down).”</a:t>
            </a:r>
          </a:p>
          <a:p>
            <a:r>
              <a:rPr lang="en-US" sz="1600" dirty="0"/>
              <a:t>In simple words: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b="1" dirty="0"/>
              <a:t>Higher category → higher outcome</a:t>
            </a:r>
            <a:r>
              <a:rPr lang="en-US" sz="1600" b="0" dirty="0"/>
              <a:t> or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sz="1600" b="1" dirty="0"/>
              <a:t>Higher category → lower outcome</a:t>
            </a:r>
            <a:endParaRPr lang="en-US" sz="1600" dirty="0"/>
          </a:p>
          <a:p>
            <a:r>
              <a:rPr lang="en-US" sz="1600" dirty="0"/>
              <a:t>But the direction must stay </a:t>
            </a:r>
            <a:r>
              <a:rPr lang="en-US" sz="1600" b="1" dirty="0"/>
              <a:t>consistent</a:t>
            </a:r>
            <a:r>
              <a:rPr lang="en-US" sz="1600" dirty="0"/>
              <a:t>.</a:t>
            </a:r>
          </a:p>
          <a:p>
            <a:r>
              <a:rPr lang="en-US" sz="1600" dirty="0">
                <a:solidFill>
                  <a:srgbClr val="FF0000"/>
                </a:solidFill>
              </a:rPr>
              <a:t>No zigzag.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⭐ Step 3 — EASY EXAMPLES (you will understand instantly)</a:t>
            </a:r>
          </a:p>
          <a:p>
            <a:r>
              <a:rPr lang="en-US" sz="1600" b="1" dirty="0"/>
              <a:t>✔️ Example 1: Education Level → Salary</a:t>
            </a:r>
          </a:p>
          <a:p>
            <a:r>
              <a:rPr lang="en-US" sz="1600" dirty="0"/>
              <a:t>Primary &lt; Secondary &lt; Bachelor &lt; Master &lt; PhD</a:t>
            </a:r>
            <a:br>
              <a:rPr lang="en-US" sz="1600" dirty="0"/>
            </a:br>
            <a:r>
              <a:rPr lang="en-US" sz="1600" dirty="0"/>
              <a:t>Salary increases with education.</a:t>
            </a:r>
          </a:p>
          <a:p>
            <a:r>
              <a:rPr lang="en-US" sz="1600" dirty="0"/>
              <a:t>This is </a:t>
            </a:r>
            <a:r>
              <a:rPr lang="en-US" sz="1600" b="1" dirty="0"/>
              <a:t>monotonic increasing</a:t>
            </a:r>
            <a:r>
              <a:rPr lang="en-US" sz="1600" dirty="0"/>
              <a:t>.</a:t>
            </a:r>
          </a:p>
          <a:p>
            <a:r>
              <a:rPr lang="en-US" sz="1600" dirty="0"/>
              <a:t>Ordinal encoding works perfectly.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✔️ Example 2: Credit Rating → Default Risk</a:t>
            </a:r>
          </a:p>
          <a:p>
            <a:r>
              <a:rPr lang="en-US" sz="1600" dirty="0"/>
              <a:t>D &lt; C &lt; B &lt; A &lt; AA &lt; AAA</a:t>
            </a:r>
            <a:br>
              <a:rPr lang="en-US" sz="1600" dirty="0"/>
            </a:br>
            <a:r>
              <a:rPr lang="en-US" sz="1600" dirty="0"/>
              <a:t>Default risk </a:t>
            </a:r>
            <a:r>
              <a:rPr lang="en-US" sz="1600" b="1" dirty="0"/>
              <a:t>decreases</a:t>
            </a:r>
            <a:r>
              <a:rPr lang="en-US" sz="1600" dirty="0"/>
              <a:t> as rating increases.</a:t>
            </a:r>
          </a:p>
          <a:p>
            <a:r>
              <a:rPr lang="en-US" sz="1600" dirty="0"/>
              <a:t>This is </a:t>
            </a:r>
            <a:r>
              <a:rPr lang="en-US" sz="1600" b="1" dirty="0"/>
              <a:t>monotonic decreasing</a:t>
            </a:r>
            <a:r>
              <a:rPr lang="en-US" sz="1600" dirty="0"/>
              <a:t>.</a:t>
            </a:r>
          </a:p>
          <a:p>
            <a:r>
              <a:rPr lang="en-US" sz="1600" dirty="0"/>
              <a:t>Ordinal encoding works perfectly.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⭐ Step 4 — When Monotonic DOES NOT exist</a:t>
            </a:r>
          </a:p>
          <a:p>
            <a:r>
              <a:rPr lang="en-US" sz="1600" dirty="0"/>
              <a:t>This is when the relationship zigzags.</a:t>
            </a:r>
          </a:p>
          <a:p>
            <a:r>
              <a:rPr lang="en-US" sz="1600" b="1" dirty="0"/>
              <a:t>❌ Example: T-shirt size → Price</a:t>
            </a:r>
          </a:p>
          <a:p>
            <a:r>
              <a:rPr lang="en-US" sz="1600" dirty="0"/>
              <a:t>S &lt; M &lt; L &lt; XL &lt; XXL</a:t>
            </a:r>
            <a:br>
              <a:rPr lang="en-US" sz="1600" dirty="0"/>
            </a:br>
            <a:r>
              <a:rPr lang="en-US" sz="1600" dirty="0"/>
              <a:t>Prices are often:</a:t>
            </a:r>
          </a:p>
          <a:p>
            <a:pPr lvl="1"/>
            <a:r>
              <a:rPr lang="en-US" sz="1600" dirty="0"/>
              <a:t>S = 300</a:t>
            </a:r>
            <a:br>
              <a:rPr lang="en-US" sz="1600" dirty="0"/>
            </a:br>
            <a:r>
              <a:rPr lang="en-US" sz="1600" dirty="0"/>
              <a:t>M = 350</a:t>
            </a:r>
            <a:br>
              <a:rPr lang="en-US" sz="1600" dirty="0"/>
            </a:br>
            <a:r>
              <a:rPr lang="en-US" sz="1600" dirty="0"/>
              <a:t>L = 340</a:t>
            </a:r>
            <a:br>
              <a:rPr lang="en-US" sz="1600" dirty="0"/>
            </a:br>
            <a:r>
              <a:rPr lang="en-US" sz="1600" dirty="0"/>
              <a:t>XL = 360</a:t>
            </a:r>
            <a:br>
              <a:rPr lang="en-US" sz="1600" dirty="0"/>
            </a:br>
            <a:r>
              <a:rPr lang="en-US" sz="1600" dirty="0"/>
              <a:t>XXL = 340</a:t>
            </a:r>
          </a:p>
          <a:p>
            <a:r>
              <a:rPr lang="en-US" sz="1600" dirty="0"/>
              <a:t>Notice:</a:t>
            </a:r>
          </a:p>
          <a:p>
            <a:r>
              <a:rPr lang="en-US" sz="1600" dirty="0"/>
              <a:t>Up → up → down → up → down</a:t>
            </a:r>
            <a:br>
              <a:rPr lang="en-US" sz="1600" dirty="0"/>
            </a:br>
            <a:r>
              <a:rPr lang="en-US" sz="1600" dirty="0"/>
              <a:t>This is </a:t>
            </a:r>
            <a:r>
              <a:rPr lang="en-US" sz="1600" b="1" dirty="0"/>
              <a:t>not monotonic</a:t>
            </a:r>
            <a:r>
              <a:rPr lang="en-US" sz="1600" dirty="0"/>
              <a:t>.</a:t>
            </a:r>
          </a:p>
          <a:p>
            <a:r>
              <a:rPr lang="en-US" sz="1600" dirty="0"/>
              <a:t>Ordinal encoding will confuse the model.</a:t>
            </a:r>
          </a:p>
          <a:p>
            <a:br>
              <a:rPr lang="en-US" sz="1600" dirty="0"/>
            </a:br>
            <a:endParaRPr lang="en-US" sz="1600" dirty="0"/>
          </a:p>
          <a:p>
            <a:r>
              <a:rPr lang="en-US" sz="1600" b="1" dirty="0"/>
              <a:t>❌ Example: Weather type → Electricity use</a:t>
            </a:r>
          </a:p>
          <a:p>
            <a:r>
              <a:rPr lang="en-US" sz="1600" dirty="0"/>
              <a:t>Cold &lt; Warm &lt; Hot</a:t>
            </a:r>
            <a:br>
              <a:rPr lang="en-US" sz="1600" dirty="0"/>
            </a:br>
            <a:r>
              <a:rPr lang="en-US" sz="1600" dirty="0"/>
              <a:t>Electricity use might be high on </a:t>
            </a:r>
            <a:r>
              <a:rPr lang="en-US" sz="1600" b="1" dirty="0"/>
              <a:t>Cold</a:t>
            </a:r>
            <a:r>
              <a:rPr lang="en-US" sz="1600" dirty="0"/>
              <a:t> (heaters)</a:t>
            </a:r>
            <a:br>
              <a:rPr lang="en-US" sz="1600" dirty="0"/>
            </a:br>
            <a:r>
              <a:rPr lang="en-US" sz="1600" dirty="0"/>
              <a:t>and again high on </a:t>
            </a:r>
            <a:r>
              <a:rPr lang="en-US" sz="1600" b="1" dirty="0"/>
              <a:t>Hot</a:t>
            </a:r>
            <a:r>
              <a:rPr lang="en-US" sz="1600" dirty="0"/>
              <a:t> (AC)</a:t>
            </a:r>
          </a:p>
          <a:p>
            <a:r>
              <a:rPr lang="en-US" sz="1600" dirty="0"/>
              <a:t>Cold → Warm → Hot</a:t>
            </a:r>
            <a:br>
              <a:rPr lang="en-US" sz="1600" dirty="0"/>
            </a:br>
            <a:r>
              <a:rPr lang="en-US" sz="1600" dirty="0"/>
              <a:t>electricity = high → low → high</a:t>
            </a:r>
          </a:p>
          <a:p>
            <a:r>
              <a:rPr lang="en-US" sz="1600" dirty="0"/>
              <a:t>This is </a:t>
            </a:r>
            <a:r>
              <a:rPr lang="en-US" sz="1600" b="1" dirty="0"/>
              <a:t>not monotonic</a:t>
            </a:r>
            <a:r>
              <a:rPr lang="en-US" sz="1600" dirty="0"/>
              <a:t>.</a:t>
            </a:r>
          </a:p>
          <a:p>
            <a:r>
              <a:rPr lang="en-US" sz="1600" dirty="0"/>
              <a:t>Ordinal encoding fails here.</a:t>
            </a:r>
          </a:p>
          <a:p>
            <a:endParaRPr lang="en-US" sz="1600" dirty="0"/>
          </a:p>
          <a:p>
            <a:pPr marL="0" indent="0" algn="l" rtl="0">
              <a:buSzPct val="100000"/>
              <a:buFont typeface="+mj-lt"/>
              <a:buNone/>
            </a:pP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1600" b="1" dirty="0"/>
              <a:t>⭐ Step 5 — Why linear/logistic regression needs monotonic data?</a:t>
            </a:r>
          </a:p>
          <a:p>
            <a:r>
              <a:rPr lang="en-US" sz="1600" dirty="0"/>
              <a:t>Because when you ordinal encode:</a:t>
            </a:r>
          </a:p>
          <a:p>
            <a:pPr lvl="1"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Cold → 0</a:t>
            </a:r>
          </a:p>
          <a:p>
            <a:pPr lvl="1"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Warm → 1</a:t>
            </a:r>
          </a:p>
          <a:p>
            <a:pPr lvl="1"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Hot → 2</a:t>
            </a:r>
          </a:p>
          <a:p>
            <a:pPr lvl="1"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600" dirty="0"/>
              <a:t>Linear regression will assume: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Warm is exactly between Cold and Hot.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Hot gives more output than Warm.</a:t>
            </a:r>
          </a:p>
          <a:p>
            <a:pPr rtl="0"/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Warm gives more output than Cold.</a:t>
            </a:r>
          </a:p>
          <a:p>
            <a:pPr rtl="0"/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600" dirty="0"/>
              <a:t>If real-life does not behave like that → model becomes wrong.</a:t>
            </a:r>
          </a:p>
          <a:p>
            <a:pPr marL="0" indent="0" algn="l" rtl="0">
              <a:buSzPct val="100000"/>
              <a:buFont typeface="+mj-lt"/>
              <a:buNone/>
            </a:pP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l" rtl="0">
              <a:buSzPct val="100000"/>
              <a:buFont typeface="+mj-lt"/>
              <a:buNone/>
            </a:pP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r>
              <a:rPr lang="en-US" sz="1600" b="1" dirty="0"/>
              <a:t>⭐ Final </a:t>
            </a:r>
            <a:r>
              <a:rPr lang="en-US" sz="1600" b="1" dirty="0" err="1"/>
              <a:t>TL;DR</a:t>
            </a:r>
            <a:r>
              <a:rPr lang="en-US" sz="1600" b="1" dirty="0"/>
              <a:t> (one sentence)</a:t>
            </a:r>
          </a:p>
          <a:p>
            <a:r>
              <a:rPr lang="en-US" sz="1600" b="1" dirty="0"/>
              <a:t>Monotonic progression means as you move to higher category levels, the target should always go up OR always go down — never both.</a:t>
            </a: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46F15E-2081-72CC-10D2-2AEE8C6C1A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5191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3CB57-0CB6-8B41-2231-1D917F11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B8F6F0-6EB3-C3A7-6977-569A224928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13C7DD-6243-D99E-F4AA-D4BC101809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sz="1600" b="1" dirty="0"/>
              <a:t>Finance &amp; Banking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Credit rating: D &lt; C &lt; B &lt; A &lt; AA &lt; AAA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Loan risk tiers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Customer segment ranking (Low → Medium → High value)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/>
              <a:t>Healthcare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Pain severity: Mild &lt; Moderate &lt; Severe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Disease stages: Stage I &lt; Stage II &lt; Stage III &lt; Stage IV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Health condition scales (Poor → Fair → Good → Excellent)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/>
              <a:t>Retail &amp; E-commerce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Product size: </a:t>
            </a:r>
            <a:r>
              <a:rPr lang="en-US" sz="1600" dirty="0" err="1"/>
              <a:t>XS</a:t>
            </a:r>
            <a:r>
              <a:rPr lang="en-US" sz="1600" dirty="0"/>
              <a:t> &lt; S &lt; M &lt; L &lt; XL &lt; XXL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Customer satisfaction levels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Product quality rating (Low → Medium → High)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/>
              <a:t>Education &amp; HR Analytics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Education level (Primary → Secondary → Bachelor → Master → PhD)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Job seniority (Junior → Mid → Senior → Lead → Manager)</a:t>
            </a:r>
          </a:p>
          <a:p>
            <a:pPr marL="228600" lvl="1" indent="-228600">
              <a:buFont typeface="Arial" panose="020B0604020202020204" pitchFamily="34" charset="0"/>
              <a:buChar char="•"/>
            </a:pPr>
            <a:r>
              <a:rPr lang="en-US" sz="1600" dirty="0"/>
              <a:t>Performance ratings (1-star to 5-star)</a:t>
            </a:r>
          </a:p>
          <a:p>
            <a:pPr marL="228600" indent="-228600">
              <a:buFont typeface="+mj-lt"/>
              <a:buAutoNum type="arabicPeriod"/>
            </a:pPr>
            <a:r>
              <a:rPr lang="en-US" sz="1600" b="1" dirty="0"/>
              <a:t>Marketing &amp; Customer Analytics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Customer loyalty tiers (Bronze → Silver → Gold → Platinum)</a:t>
            </a:r>
          </a:p>
          <a:p>
            <a:pPr marL="685800" lvl="2" indent="-228600">
              <a:buFont typeface="Arial" panose="020B0604020202020204" pitchFamily="34" charset="0"/>
              <a:buChar char="•"/>
            </a:pPr>
            <a:r>
              <a:rPr lang="en-US" sz="1600" dirty="0"/>
              <a:t>Response likelihood levels (Very Low → Low → High → Very High)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65093-E10A-1DBD-2A3C-334D04C28C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20450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6F6CBC-54B6-8307-8CB8-676B37305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D299AE-303D-7FA2-4F73-A64D0118F66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A8EAAE-183B-946E-80D4-5794F39FD2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rtl="0">
              <a:buSzPct val="100000"/>
              <a:buFont typeface="+mj-lt"/>
              <a:buNone/>
            </a:pP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EC57FC-1ADB-D6A1-DA25-178ACBAC15A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729313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1D4B6-40A2-D4C9-24A1-7E07D039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702D5EB-F7F2-BA53-4160-4E5240C2DC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8BA47E-C784-009B-4120-6F8419D8EA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 algn="l" rtl="0">
              <a:buSzPct val="100000"/>
              <a:buFont typeface="+mj-lt"/>
              <a:buNone/>
            </a:pPr>
            <a:endParaRPr lang="en-US" sz="16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DC3475-041D-1402-64BE-BE2BF12C98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1100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BBD96A-5548-1457-CAAF-39ECC5F7D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4F0CCE1-B840-1ED0-5F90-7972992B031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8B977F-834F-B026-A86F-FB1D87E7CA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en-US" b="1" dirty="0"/>
              <a:t>Using Ordinal Encoding for Nominal Data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E.g., Color (Red, Blue, Green)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Creates fake ranking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Fix:</a:t>
            </a:r>
            <a:r>
              <a:rPr lang="en-US" dirty="0"/>
              <a:t> Use </a:t>
            </a:r>
            <a:r>
              <a:rPr lang="en-US" b="1" dirty="0"/>
              <a:t>One-Hot Encoding</a:t>
            </a:r>
            <a:r>
              <a:rPr lang="en-US" dirty="0"/>
              <a:t> or </a:t>
            </a:r>
            <a:r>
              <a:rPr lang="en-US" b="1" dirty="0"/>
              <a:t>Binary Encoding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Wrong Category Order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E.g., XL &lt; L &lt; M &lt; 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Model learns incorrect relationships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Fix:</a:t>
            </a:r>
            <a:r>
              <a:rPr lang="en-US" dirty="0"/>
              <a:t> Define correct order manually using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categories=[...]</a:t>
            </a:r>
            <a:br>
              <a:rPr lang="en-US" dirty="0"/>
            </a:b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Using Ordinal Encoding When Relationship Is Not Monotonic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Target goes up → down → up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Fix:</a:t>
            </a:r>
            <a:r>
              <a:rPr lang="en-US" dirty="0"/>
              <a:t> Use </a:t>
            </a:r>
            <a:r>
              <a:rPr lang="en-US" b="1" dirty="0"/>
              <a:t>One-Hot</a:t>
            </a:r>
            <a:r>
              <a:rPr lang="en-US" dirty="0"/>
              <a:t> or </a:t>
            </a:r>
            <a:r>
              <a:rPr lang="en-US" b="1" dirty="0"/>
              <a:t>Target Encoding</a:t>
            </a:r>
            <a:br>
              <a:rPr lang="en-US" dirty="0"/>
            </a:b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Using Ordinal Encoding in Distance-Based Models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KNN, </a:t>
            </a:r>
            <a:r>
              <a:rPr lang="en-US" dirty="0" err="1"/>
              <a:t>SVM</a:t>
            </a:r>
            <a:r>
              <a:rPr lang="en-US" dirty="0"/>
              <a:t>, Clustering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Problem:</a:t>
            </a:r>
            <a:r>
              <a:rPr lang="en-US" dirty="0"/>
              <a:t> Interpret ranks as real distances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Fix:</a:t>
            </a:r>
            <a:r>
              <a:rPr lang="en-US" dirty="0"/>
              <a:t> Use </a:t>
            </a:r>
            <a:r>
              <a:rPr lang="en-US" b="1" dirty="0"/>
              <a:t>One-Hot Encoding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Assuming Ordinal Encoding Always Works in Linear Models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Linear Regression assumes </a:t>
            </a:r>
            <a:r>
              <a:rPr lang="en-US" b="1" dirty="0"/>
              <a:t>equal spacing</a:t>
            </a:r>
            <a:endParaRPr lang="en-US" dirty="0"/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Fix:</a:t>
            </a:r>
            <a:r>
              <a:rPr lang="en-US" dirty="0"/>
              <a:t> Check whether spacing is meaningful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If not → use </a:t>
            </a:r>
            <a:r>
              <a:rPr lang="en-US" b="1" dirty="0"/>
              <a:t>One-Hot</a:t>
            </a:r>
            <a:endParaRPr lang="en-US" dirty="0"/>
          </a:p>
          <a:p>
            <a:pPr marL="228600" indent="-228600">
              <a:buFont typeface="+mj-lt"/>
              <a:buAutoNum type="arabicPeriod"/>
            </a:pPr>
            <a:endParaRPr lang="en-US" dirty="0"/>
          </a:p>
          <a:p>
            <a:pPr marL="228600" indent="-228600">
              <a:buFont typeface="+mj-lt"/>
              <a:buAutoNum type="arabicPeriod"/>
            </a:pPr>
            <a:r>
              <a:rPr lang="en-US" b="1" dirty="0"/>
              <a:t>Forgetting to Handle Unknown Categories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dirty="0"/>
              <a:t>New or unseen categories in test data</a:t>
            </a:r>
          </a:p>
          <a:p>
            <a:pPr marL="685800" lvl="1" indent="-228600">
              <a:buFont typeface="Arial" panose="020B0604020202020204" pitchFamily="34" charset="0"/>
              <a:buChar char="•"/>
            </a:pPr>
            <a:r>
              <a:rPr lang="en-US" b="1" dirty="0"/>
              <a:t>Fix:</a:t>
            </a:r>
            <a:r>
              <a:rPr lang="en-US" dirty="0"/>
              <a:t> Use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handle_unknown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='</a:t>
            </a:r>
            <a:r>
              <a:rPr lang="en-US" sz="1200" kern="120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use_encoded_value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'</a:t>
            </a:r>
            <a:r>
              <a:rPr lang="en-US" dirty="0"/>
              <a:t> (in newer </a:t>
            </a:r>
            <a:r>
              <a:rPr lang="en-US" dirty="0" err="1"/>
              <a:t>sklearn</a:t>
            </a:r>
            <a:r>
              <a:rPr lang="en-US" dirty="0"/>
              <a:t>)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or preprocess categories carefully</a:t>
            </a:r>
          </a:p>
          <a:p>
            <a:pPr marL="0" indent="0">
              <a:buFont typeface="+mj-lt"/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498C60E-F3EF-655F-6877-31A8F1485D0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713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97170-D166-8ADD-5A7F-09D397C163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0FE1FEE-B6F2-E569-E037-1A0DE7877A0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A1E7F88-E13F-D854-46B4-155B070E85D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 typeface="+mj-lt"/>
              <a:buNone/>
            </a:pPr>
            <a:endParaRPr lang="en-US" sz="16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BDF054-1114-DC26-1D92-6039491A0A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6B017D2-6350-4EE4-934F-0B042922AB1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876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83997-91B7-FB0A-1A31-82315DE937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B941EF-2B3A-3430-943A-A9CD07AAD11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20171-37D3-E730-7C1F-6FB4C5E9F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5EF08D-F448-A586-1017-9538E4E5DC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76A4A0-58E8-884C-AE6F-ECE653BBF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096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B7917-BEF9-99FE-48B8-38429EC6C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C6666-3804-AD3E-E043-683AF2FAB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53D41B-7F5E-3A29-112F-2E6D6DA4B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C43B55-29A2-5BFC-ED11-2BBC2363E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08FAA5-E843-0204-EC09-AEB839905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3069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58D34-8D8D-91B6-40EC-E5697E36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0B8AA4-D4E0-96E6-40BC-87A557EDB1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9C75EF-1B91-A092-8C2A-1FE7A1C657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CF9696-F077-E919-AA89-68F6666711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1C4A77-AC0E-5468-6434-ADD633CB5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4564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0DD02-86E0-82FD-EE12-F837231CF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3ABA68-640D-535A-498C-82DFE370826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3E463E-A358-44E4-F808-93C44079BB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680B5DE-9EA3-3B0D-576E-42A5C0A51E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F36414-2CF1-4BFE-6DA4-B39612E453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230BF9-AEDE-DD27-E140-4BEF44216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9307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C8E1C6-43C5-6EFF-DC3F-26BB78405A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6E0902-1ADF-BD87-FA09-8C16851BDE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E5479C-6601-34FA-AD12-073CD55E8A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E2444E-D7B3-73FF-2995-058F247F5F1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97E0D3-F761-E95B-5372-E159EF29B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31415E-58D4-AE5A-1C2B-F656F3432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B181B-4F05-7F03-3E48-EA0E84C8C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11E4269-A6D3-12B0-488F-9EE19665A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10494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CAF57-6068-B9DD-262D-1F42E99E59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43794DC-07AC-F01D-24D6-1722538E0E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DA188B-835B-3E8B-0AF7-37BCEF300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580918-9B26-6211-EDEE-10C87FA4A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040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6DBACB6-7980-6DA4-9E3F-AA755D7296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A01729-C157-1AD3-F80C-313D72B88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3B13ED-1B01-969B-B9C9-13BC2F20AA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9277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E6DC2-4C94-1F18-39BF-FEEC3B20D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FE4C3-85A3-0B3B-38BF-3EFE74FD4F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00378C-D758-9525-028E-13004F695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4EA76E-9567-ECEC-B03D-CC6D13789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0DE22-5C5E-7539-20EC-E220DF7D5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D0466D-162F-B51F-DC35-8E65C1063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407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4217DC-E0D1-94A7-BEBB-DABF193010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288427C-D781-98E3-DB19-926E8942F8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71CE02-AFC0-6D13-BAEE-F186825341B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3E513B-244B-56EC-81C6-074FB4AF4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920C3-30FA-E517-49FB-14AE89D374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2D87FC2-8841-0E4C-9A04-83E703475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769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A7A80-6711-82C7-3825-29E8C3E40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B08FD9-9D6E-1948-8CF4-BFACE8F3F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5ABF11-9D8E-DD62-1631-F2401F56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ECC07-5E7E-B7CC-D379-EA6D438DC8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68CFD0-C6A9-D165-5251-028023D4CA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33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C0EB82-031E-8AA7-AC9D-692AEFEF52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D78AC-BD96-8804-D188-1DEC7D8A31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E3D1CD-C946-102B-704D-184E14832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455559-BEB3-1986-D81D-5F23971EC8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02589C-210F-54B6-BCF1-5A7CB1DC5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7443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73244E-990C-3EDD-0894-A75A363C4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2AB60C-1BF9-F506-71F5-7F6D302076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DC3606-AFFE-1550-6B87-760212535A1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8BE5C9-5512-4744-8F0F-77544735312A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24C194-B156-73A4-175C-45B890A5675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EDC117-4C4D-CA4C-525B-FA526B206BD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E862FD-D5F0-476A-BA1C-68B9A9A7F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8627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gmrr40058/data-science-ml-python-ostad/blob/main/My%20Note%20and%20Practice/Text%20to%20Numerical%20Data%20Conversion/Categorical(Text%20to%20Numeric)%20data%20conversion-CTtN/Ordinal%20Data/CTOtN2.%20Ordinal%20Encoding/ordinal_encoding.ipynb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2C5253-957F-FAAB-CBA0-F5DE0CA736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7000" dirty="0">
                <a:latin typeface="Bebas Neue" panose="020B0606020202050201" pitchFamily="34" charset="0"/>
              </a:rPr>
              <a:t>Ordinal Encoding in Machine Learning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8DF00B-8BE7-56B4-161E-B995F9354D4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Encoding Ordered Categorical Variables with Meaningful Numerical Mapping</a:t>
            </a:r>
          </a:p>
        </p:txBody>
      </p:sp>
    </p:spTree>
    <p:extLst>
      <p:ext uri="{BB962C8B-B14F-4D97-AF65-F5344CB8AC3E}">
        <p14:creationId xmlns:p14="http://schemas.microsoft.com/office/powerpoint/2010/main" val="8824740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CE1E38-FE52-92FB-4271-5A11C77F1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72A10-F79A-7152-D840-4A32773755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What is Ordinal Encoding?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5AA84-B95E-8D61-9797-15F1C40802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Encoding is a categorical encoding technique used when categories have a meaningful, intrinsic order.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It maps each category to an integer that reflects its rank.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Example: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Small → 0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Medium → 1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Large → 2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numerical values express: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Order (relative ranking)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Directionality (higher vs lower)</a:t>
            </a:r>
          </a:p>
          <a:p>
            <a:pPr algn="just"/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Used when the ordinal relationship contains useful predictive signal</a:t>
            </a:r>
          </a:p>
        </p:txBody>
      </p:sp>
    </p:spTree>
    <p:extLst>
      <p:ext uri="{BB962C8B-B14F-4D97-AF65-F5344CB8AC3E}">
        <p14:creationId xmlns:p14="http://schemas.microsoft.com/office/powerpoint/2010/main" val="39180189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2E0AA-06FD-8398-4D40-528805F21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9549BD-E904-D083-964E-C29A56BFD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How Ordinal Encoding Works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C09DA8-CCF4-2017-07AB-8E86C678CD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Encoding converts ordered categorical values into integer ranks that represent their relative position.</a:t>
            </a:r>
          </a:p>
          <a:p>
            <a:pPr marL="0" indent="0" algn="just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Step 1: Identify the Ordinal Feature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Ensure the categories possess a clear, domain-specific order.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Example: “Basic &lt; Standard &lt; Premium”.</a:t>
            </a:r>
          </a:p>
          <a:p>
            <a:pPr marL="0" indent="0" algn="just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Step 2: Define the Correct Order Explicitly</a:t>
            </a:r>
          </a:p>
          <a:p>
            <a:pPr lvl="1" algn="just"/>
            <a:r>
              <a:rPr lang="en-US" sz="2200" dirty="0">
                <a:solidFill>
                  <a:schemeClr val="accent5">
                    <a:lumMod val="75000"/>
                  </a:schemeClr>
                </a:solidFill>
                <a:latin typeface="Open Sans" pitchFamily="2" charset="0"/>
                <a:ea typeface="Open Sans" pitchFamily="2" charset="0"/>
                <a:cs typeface="Open Sans" pitchFamily="2" charset="0"/>
              </a:rPr>
              <a:t>Avoid relying on alphabetical sorting.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Create a domain-informed sequence such as:</a:t>
            </a:r>
          </a:p>
          <a:p>
            <a:pPr marL="3657600" lvl="8" indent="0" algn="just">
              <a:buNone/>
            </a:pPr>
            <a:r>
              <a:rPr lang="en-US" sz="1600" dirty="0">
                <a:latin typeface="Open Sans" pitchFamily="2" charset="0"/>
                <a:ea typeface="Open Sans" pitchFamily="2" charset="0"/>
                <a:cs typeface="Open Sans" pitchFamily="2" charset="0"/>
              </a:rPr>
              <a:t>			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[’Basic’, ’Standard’, ’Premium’]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Step 3: Map Each Category to an Integer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Assign integers starting from 0 (or any chosen base).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Example: Basic → 0, Standard → 1, Premium → 2.</a:t>
            </a: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13455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44DAFA-4FCE-E31D-D194-CBA2834FBD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DC736C-0905-3A7C-691A-4DF3EF5270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  <a:hlinkClick r:id="rId2"/>
              </a:rPr>
              <a:t>How Ordinal Encoding Works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0A7DF5-2091-7D96-4713-9E2B2023E7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Step 4: Replace Categorical Values with Their Numeric Ranks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These numeric ranks are then fed into ML models as numeric predictors</a:t>
            </a:r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.</a:t>
            </a:r>
          </a:p>
          <a:p>
            <a:pPr marL="0" indent="0" algn="just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Interpretation:</a:t>
            </a:r>
          </a:p>
          <a:p>
            <a:pPr lvl="1" algn="just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The encoded values carry order information, allowing models to capture monotonic trends.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8F64A9DD-064E-7355-FFCE-DD2158BAD0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5291585"/>
              </p:ext>
            </p:extLst>
          </p:nvPr>
        </p:nvGraphicFramePr>
        <p:xfrm>
          <a:off x="1353574" y="3301180"/>
          <a:ext cx="233299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845">
                  <a:extLst>
                    <a:ext uri="{9D8B030D-6E8A-4147-A177-3AD203B41FA5}">
                      <a16:colId xmlns:a16="http://schemas.microsoft.com/office/drawing/2014/main" val="2984561319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44615423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Student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Grade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43547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Alice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2103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Bob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0271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Charlie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3647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David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4557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Eva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99295526"/>
                  </a:ext>
                </a:extLst>
              </a:tr>
            </a:tbl>
          </a:graphicData>
        </a:graphic>
      </p:graphicFrame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8179C135-3262-61AD-E84F-52A42FDF76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8135087"/>
              </p:ext>
            </p:extLst>
          </p:nvPr>
        </p:nvGraphicFramePr>
        <p:xfrm>
          <a:off x="6353276" y="3301180"/>
          <a:ext cx="4655185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845">
                  <a:extLst>
                    <a:ext uri="{9D8B030D-6E8A-4147-A177-3AD203B41FA5}">
                      <a16:colId xmlns:a16="http://schemas.microsoft.com/office/drawing/2014/main" val="2984561319"/>
                    </a:ext>
                  </a:extLst>
                </a:gridCol>
                <a:gridCol w="1033145">
                  <a:extLst>
                    <a:ext uri="{9D8B030D-6E8A-4147-A177-3AD203B41FA5}">
                      <a16:colId xmlns:a16="http://schemas.microsoft.com/office/drawing/2014/main" val="2446154239"/>
                    </a:ext>
                  </a:extLst>
                </a:gridCol>
                <a:gridCol w="2322195">
                  <a:extLst>
                    <a:ext uri="{9D8B030D-6E8A-4147-A177-3AD203B41FA5}">
                      <a16:colId xmlns:a16="http://schemas.microsoft.com/office/drawing/2014/main" val="12579339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Student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Grade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2200" dirty="0" err="1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Grade_Encoded</a:t>
                      </a:r>
                      <a:endParaRPr lang="en-US" sz="2200" dirty="0">
                        <a:effectLst/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435473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Alice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42103554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Bob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0271256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Charlie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2.0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37036475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David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0.0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154557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Eva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</a:t>
                      </a:r>
                    </a:p>
                  </a:txBody>
                  <a:tcPr marL="60960" marR="60960" marT="30480" marB="30480" anchor="ctr"/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2200" dirty="0">
                          <a:effectLst/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1.0</a:t>
                      </a:r>
                    </a:p>
                  </a:txBody>
                  <a:tcPr marL="60960" marR="60960" marT="30480" marB="30480" anchor="ctr"/>
                </a:tc>
                <a:extLst>
                  <a:ext uri="{0D108BD9-81ED-4DB2-BD59-A6C34878D82A}">
                    <a16:rowId xmlns:a16="http://schemas.microsoft.com/office/drawing/2014/main" val="599295526"/>
                  </a:ext>
                </a:extLst>
              </a:tr>
            </a:tbl>
          </a:graphicData>
        </a:graphic>
      </p:graphicFrame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2EE37FF-3990-7C61-757C-4CEB70130430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3686564" y="4489900"/>
            <a:ext cx="2666712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97512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985C2-7407-D784-FF7D-AA7D4DF54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B990A-9F27-E0C4-8DCA-280799BA26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Advantages of Ordinal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099675-4E99-C594-FEFB-C91513FEB5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Preserves Intrinsic Order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Simpler Representation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Efficient for High-Cardinality Ordered Features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Model-Friendly for Certain Algorithms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Improves Interpretability in Linear Models (When Spacing Is Meaningful)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Computationally Efficient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67175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5147BD-9120-7330-7C92-3B056DAE1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84814E-1C28-AB2E-B7ED-DE878190DA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Disadvantages &amp; Risks of Ordinal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C655C-E5E1-25A9-60DB-1D0D5CF487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Assumes Equal Spacing Between Categories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Imposes False Linear Relationships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Risk of Misinterpretation by Distance-Based Models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Sensitive to Incorrect Ordering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Problematic for Nominal Data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May Cause Overfitting in Tree Models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/>
              <a:t>Poor Performance in Non-Monotonic Relationships</a:t>
            </a: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697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FC4DA4-AEA1-6948-9B7E-39C3AD24D2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88E228-6BF5-FA13-3B53-C4F52E005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When to Use vs When NOT to Use Ordinal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4CFDC-A735-5AAB-31C2-C292FE47AC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 numCol="2">
            <a:normAutofit/>
          </a:bodyPr>
          <a:lstStyle/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 Ordinal Encoding When: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Categories have a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real, natural order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Differences between levels are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meaningful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Relationship with target is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monotonic</a:t>
            </a:r>
            <a:r>
              <a:rPr lang="en-US" sz="2200" b="1" baseline="30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  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tree-based models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(Decision Tree, Random Forest, XGBoost)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Ordered feature has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many categories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(efficient representation)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 </a:t>
            </a:r>
          </a:p>
          <a:p>
            <a:pPr marL="0" indent="0">
              <a:buNone/>
            </a:pPr>
            <a:r>
              <a:rPr lang="en-US" sz="24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Do NOT Use Ordinal Encoding When: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Data is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nominal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(no order) — e.g., colors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Category spacing is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not equal or meaningful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Target relationship is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non-monotonic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distance-based models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(KNN, </a:t>
            </a:r>
            <a:r>
              <a:rPr lang="en-US" sz="22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SVM</a:t>
            </a:r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)</a:t>
            </a:r>
          </a:p>
          <a:p>
            <a:pPr lvl="1"/>
            <a:r>
              <a:rPr lang="en-US" sz="22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linear models </a:t>
            </a:r>
            <a:r>
              <a:rPr lang="en-US" sz="22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where spacing assumption is wrong</a:t>
            </a:r>
            <a:endParaRPr lang="en-US" sz="22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marL="0" indent="0" algn="just">
              <a:buNone/>
            </a:pPr>
            <a:endParaRPr lang="en-US" sz="24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99544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78129-38D5-B285-46EF-27C458353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00158-A81D-FDD6-CFC5-F99D3CBA8A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Industry Use Cases of Ordinal Encoding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EBEADF-4DF0-6CFC-057E-4A33C21BDF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Finance &amp; Banking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Healthcare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Retail &amp; E-commerce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Education &amp; HR Analytics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Marketing &amp; Customer Analytics</a:t>
            </a:r>
          </a:p>
        </p:txBody>
      </p:sp>
    </p:spTree>
    <p:extLst>
      <p:ext uri="{BB962C8B-B14F-4D97-AF65-F5344CB8AC3E}">
        <p14:creationId xmlns:p14="http://schemas.microsoft.com/office/powerpoint/2010/main" val="369313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6D28D-0659-254B-B31B-EC703B5A15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942505-200A-6627-23C4-3F37E2D50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Ordinal Encoding vs Label Encoding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950D4C8-165D-A77F-A0BF-5EEF70BA74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01213504"/>
              </p:ext>
            </p:extLst>
          </p:nvPr>
        </p:nvGraphicFramePr>
        <p:xfrm>
          <a:off x="838203" y="1005205"/>
          <a:ext cx="10515597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199">
                  <a:extLst>
                    <a:ext uri="{9D8B030D-6E8A-4147-A177-3AD203B41FA5}">
                      <a16:colId xmlns:a16="http://schemas.microsoft.com/office/drawing/2014/main" val="3184579863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678105855"/>
                    </a:ext>
                  </a:extLst>
                </a:gridCol>
                <a:gridCol w="3505199">
                  <a:extLst>
                    <a:ext uri="{9D8B030D-6E8A-4147-A177-3AD203B41FA5}">
                      <a16:colId xmlns:a16="http://schemas.microsoft.com/office/drawing/2014/main" val="2525333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Feature / Aspect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Ordinal Encoding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Label Encoding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139377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Category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Ordered</a:t>
                      </a:r>
                      <a:r>
                        <a:rPr lang="en-US" sz="21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(natural ranking)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Ordered or Unordered</a:t>
                      </a:r>
                      <a:r>
                        <a:rPr lang="en-US" sz="21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(nominal)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20590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Who defines the order?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You</a:t>
                      </a:r>
                      <a:r>
                        <a:rPr lang="en-US" sz="21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(manually)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Python</a:t>
                      </a:r>
                      <a:r>
                        <a:rPr lang="en-US" sz="21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(alphabetical order)</a:t>
                      </a:r>
                    </a:p>
                  </a:txBody>
                  <a:tcPr anchor="ctr"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4087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Meaning of numbers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Represents </a:t>
                      </a:r>
                      <a:r>
                        <a:rPr lang="en-US" sz="21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rank / level</a:t>
                      </a:r>
                      <a:endParaRPr lang="en-US" sz="2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 real meaning; only IDs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207187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Risk of fake order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 (correct order is defined)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High</a:t>
                      </a: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(alphabetical order ≠ real order)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24908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Suitable for linear/logistic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Yes, </a:t>
                      </a:r>
                      <a:r>
                        <a:rPr lang="en-US" sz="21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if spacing is meaningful</a:t>
                      </a:r>
                      <a:endParaRPr lang="en-US" sz="2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Not safe</a:t>
                      </a:r>
                      <a:endParaRPr lang="en-US" sz="21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1899585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Suitable for tree models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Yes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6788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Interpretation of integers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Monotonic progression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Arbitrary labels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0247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Best use case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Education, size, rating levels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1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Cities, countries (tree models only)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8683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190906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50438-E8DE-CABA-1B7B-EFF5939A20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D8C1A-F93C-F9F7-5749-31ABF522B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Pros &amp; Cons of Ordinal Encoding</a:t>
            </a:r>
            <a:endParaRPr lang="en-US" sz="3600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99D6B91-AAAB-F164-67B3-CAE665CFE1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6660875"/>
              </p:ext>
            </p:extLst>
          </p:nvPr>
        </p:nvGraphicFramePr>
        <p:xfrm>
          <a:off x="838200" y="1825625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337650775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401012958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Pros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Cons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5176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Preserves </a:t>
                      </a: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natural order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Assumes </a:t>
                      </a: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equal spacing</a:t>
                      </a: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between levels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2080678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Only </a:t>
                      </a: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1 column</a:t>
                      </a: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 (memory efficient)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Can create </a:t>
                      </a: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false linear relationships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921370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Works well with </a:t>
                      </a: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tree models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Misleads </a:t>
                      </a: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distance-based models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165171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Simple, fast, and easy to apply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Wrong order → </a:t>
                      </a: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wrong model behavior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602658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Useful when categories are </a:t>
                      </a:r>
                      <a:r>
                        <a:rPr lang="en-US" sz="2200" b="1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monotonic</a:t>
                      </a:r>
                      <a:endParaRPr lang="en-US" sz="220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200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Not suitable for </a:t>
                      </a:r>
                      <a:r>
                        <a:rPr lang="en-US" sz="2200" b="1" dirty="0">
                          <a:latin typeface="Open Sans" pitchFamily="2" charset="0"/>
                          <a:ea typeface="Open Sans" pitchFamily="2" charset="0"/>
                          <a:cs typeface="Open Sans" pitchFamily="2" charset="0"/>
                        </a:rPr>
                        <a:t>nominal data</a:t>
                      </a:r>
                      <a:endParaRPr lang="en-US" sz="2200" dirty="0">
                        <a:latin typeface="Open Sans" pitchFamily="2" charset="0"/>
                        <a:ea typeface="Open Sans" pitchFamily="2" charset="0"/>
                        <a:cs typeface="Open Sans" pitchFamily="2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641371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47743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4A486D-9A0D-F823-0423-CAF996DAE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628E-2314-7FF1-4369-E0580A5D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Common Mistakes &amp; Troubleshooting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C9B1BA-F66F-86EE-9583-8A2CB722D3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>
            <a:normAutofit/>
          </a:bodyPr>
          <a:lstStyle/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Ordinal Encoding for Nominal Data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Wrong Category Order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Ordinal Encoding When Relationship Is Not Monotonic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Using Ordinal Encoding in Distance-Based Models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Assuming Ordinal Encoding Always Works in Linear Model</a:t>
            </a:r>
          </a:p>
          <a:p>
            <a:pPr marL="457200" indent="-457200" algn="just">
              <a:buFont typeface="+mj-lt"/>
              <a:buAutoNum type="arabicPeriod"/>
            </a:pPr>
            <a:r>
              <a:rPr lang="en-US" sz="2400" dirty="0">
                <a:latin typeface="Open Sans" pitchFamily="2" charset="0"/>
                <a:ea typeface="Open Sans" pitchFamily="2" charset="0"/>
                <a:cs typeface="Open Sans" pitchFamily="2" charset="0"/>
              </a:rPr>
              <a:t>Forgetting to Handle Unknown Categories</a:t>
            </a:r>
          </a:p>
        </p:txBody>
      </p:sp>
    </p:spTree>
    <p:extLst>
      <p:ext uri="{BB962C8B-B14F-4D97-AF65-F5344CB8AC3E}">
        <p14:creationId xmlns:p14="http://schemas.microsoft.com/office/powerpoint/2010/main" val="31340718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CD01E-B002-5DA0-E1E3-19634C467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2B85E-4C89-253B-5B3B-4AB05B696B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0080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Bebas Neue" panose="020B0606020202050201" pitchFamily="34" charset="0"/>
              </a:rPr>
              <a:t>Summary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59468F-C3DD-377A-B605-C8FB25476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91381"/>
            <a:ext cx="10515600" cy="5085582"/>
          </a:xfrm>
        </p:spPr>
        <p:txBody>
          <a:bodyPr numCol="2">
            <a:noAutofit/>
          </a:bodyPr>
          <a:lstStyle/>
          <a:p>
            <a:pPr algn="just"/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Ordinal Encoding converts ordered categories into integer ranks</a:t>
            </a:r>
          </a:p>
          <a:p>
            <a:pPr algn="just"/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Best used when category levels have a natural, meaningful order</a:t>
            </a:r>
          </a:p>
          <a:p>
            <a:pPr algn="just"/>
            <a:r>
              <a:rPr lang="en-US" sz="2000" dirty="0">
                <a:latin typeface="Open Sans" pitchFamily="2" charset="0"/>
                <a:ea typeface="Open Sans" pitchFamily="2" charset="0"/>
                <a:cs typeface="Open Sans" pitchFamily="2" charset="0"/>
              </a:rPr>
              <a:t>Suitable when target relationship is monotonic (consistently ↑ or ↓)</a:t>
            </a:r>
          </a:p>
          <a:p>
            <a:pPr marL="0" indent="0" algn="just">
              <a:buNone/>
            </a:pPr>
            <a:endParaRPr lang="en-US" sz="2000" dirty="0">
              <a:latin typeface="Open Sans" pitchFamily="2" charset="0"/>
              <a:ea typeface="Open Sans" pitchFamily="2" charset="0"/>
              <a:cs typeface="Open Sans" pitchFamily="2" charset="0"/>
            </a:endParaRPr>
          </a:p>
          <a:p>
            <a:pPr algn="just"/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Advantages: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Preserves order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Memory efficient (1 column)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Works well with tree-based models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Useful for education levels, credit ratings, sizes, satisfaction scales</a:t>
            </a:r>
          </a:p>
          <a:p>
            <a:pPr algn="just"/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Risks &amp; Limitations: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Assumes equal spacing between levels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Can mislead linear, logistic, KNN, </a:t>
            </a:r>
            <a:r>
              <a:rPr lang="en-US" sz="1800" dirty="0" err="1">
                <a:latin typeface="Open Sans" pitchFamily="2" charset="0"/>
                <a:ea typeface="Open Sans" pitchFamily="2" charset="0"/>
                <a:cs typeface="Open Sans" pitchFamily="2" charset="0"/>
              </a:rPr>
              <a:t>SVM</a:t>
            </a:r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 if spacing is wrong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Incorrect order causes incorrect model learning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Not suitable for nominal (unordered) data</a:t>
            </a:r>
          </a:p>
          <a:p>
            <a:pPr algn="just"/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Use Ordinal Encoding When: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Order matters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Monotonic relationship exists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Domain knowledge supports ranking</a:t>
            </a:r>
          </a:p>
          <a:p>
            <a:pPr algn="just"/>
            <a:r>
              <a:rPr lang="en-US" sz="2000" b="1" dirty="0">
                <a:latin typeface="Open Sans" pitchFamily="2" charset="0"/>
                <a:ea typeface="Open Sans" pitchFamily="2" charset="0"/>
                <a:cs typeface="Open Sans" pitchFamily="2" charset="0"/>
              </a:rPr>
              <a:t>Avoid It When: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Data is nominal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Relationship is non-monotonic</a:t>
            </a:r>
          </a:p>
          <a:p>
            <a:pPr lvl="1" algn="just"/>
            <a:r>
              <a:rPr lang="en-US" sz="1800" dirty="0">
                <a:latin typeface="Open Sans" pitchFamily="2" charset="0"/>
                <a:ea typeface="Open Sans" pitchFamily="2" charset="0"/>
                <a:cs typeface="Open Sans" pitchFamily="2" charset="0"/>
              </a:rPr>
              <a:t>Distance-based models are used</a:t>
            </a:r>
          </a:p>
        </p:txBody>
      </p:sp>
    </p:spTree>
    <p:extLst>
      <p:ext uri="{BB962C8B-B14F-4D97-AF65-F5344CB8AC3E}">
        <p14:creationId xmlns:p14="http://schemas.microsoft.com/office/powerpoint/2010/main" val="21364093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1893</Words>
  <Application>Microsoft Office PowerPoint</Application>
  <PresentationFormat>Widescreen</PresentationFormat>
  <Paragraphs>310</Paragraphs>
  <Slides>12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Bebas Neue</vt:lpstr>
      <vt:lpstr>Calibri</vt:lpstr>
      <vt:lpstr>Calibri Light</vt:lpstr>
      <vt:lpstr>Open Sans</vt:lpstr>
      <vt:lpstr>Office Theme</vt:lpstr>
      <vt:lpstr>Ordinal Encoding in Machine Learning</vt:lpstr>
      <vt:lpstr>What is Ordinal Encoding?</vt:lpstr>
      <vt:lpstr>How Ordinal Encoding Works</vt:lpstr>
      <vt:lpstr>How Ordinal Encoding Works</vt:lpstr>
      <vt:lpstr>Advantages of Ordinal Encoding</vt:lpstr>
      <vt:lpstr>Disadvantages &amp; Risks of Ordinal Encoding</vt:lpstr>
      <vt:lpstr>When to Use vs When NOT to Use Ordinal Encoding</vt:lpstr>
      <vt:lpstr>Industry Use Cases of Ordinal Encoding</vt:lpstr>
      <vt:lpstr>Ordinal Encoding vs Label Encoding</vt:lpstr>
      <vt:lpstr>Pros &amp; Cons of Ordinal Encoding</vt:lpstr>
      <vt:lpstr>Common Mistakes &amp; Troubleshooting</vt:lpstr>
      <vt:lpstr>Summary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 M RIFAT REZA</dc:creator>
  <cp:lastModifiedBy>G M RIFAT REZA</cp:lastModifiedBy>
  <cp:revision>13</cp:revision>
  <dcterms:created xsi:type="dcterms:W3CDTF">2025-11-19T06:58:47Z</dcterms:created>
  <dcterms:modified xsi:type="dcterms:W3CDTF">2025-11-19T13:45:06Z</dcterms:modified>
</cp:coreProperties>
</file>
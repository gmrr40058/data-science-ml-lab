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2" r:id="rId2"/>
    <p:sldId id="309" r:id="rId3"/>
    <p:sldId id="310" r:id="rId4"/>
    <p:sldId id="321" r:id="rId5"/>
    <p:sldId id="311" r:id="rId6"/>
    <p:sldId id="32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90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EF85B-203B-468F-E37F-919BBE7CA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D285D8-308E-03F7-9EED-EC6B5B59DB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86296-CEF5-A9AF-936C-A7A410276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08777-D8E4-48B9-88F2-93B50ADA839C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7CDB9-A004-7981-1515-6CC34B9C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0F2DA-B320-1185-74EA-049FE1699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445F2-DB9D-489A-A30F-5F3D6FF95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852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4D323-D23E-A2DF-39C6-9BE2CC576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676A0-2193-8F71-3E69-787960B0A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BAA0E-234F-1221-D322-987E9228F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08777-D8E4-48B9-88F2-93B50ADA839C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03960-3460-E7EF-2A55-9B97CD858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C9EF0-0E09-4FCD-7A07-C94CC5FEA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445F2-DB9D-489A-A30F-5F3D6FF95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184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5A1C4-7F56-F81C-7F65-BC43F049E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A0F1B3-DC93-A567-464F-1FE89D2A7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5CC90-FA2D-BC7C-F079-B2D1C05C2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08777-D8E4-48B9-88F2-93B50ADA839C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08E1D-642E-6149-E133-AC798F04B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EBEF6-28A1-753D-674F-FBCE97EE3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445F2-DB9D-489A-A30F-5F3D6FF95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156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A7D11-81C0-7A9C-DCF9-D7913D692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6C0C5-E105-12A8-49BB-14C4EAE539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8A1E21-FF30-A6EB-6EF8-CA0319418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7BF6E1-E9BD-6177-59BA-4F06B81AF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08777-D8E4-48B9-88F2-93B50ADA839C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86B00-9935-626A-D61E-B4C4477B2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C897FB-8AED-BF6F-8905-8615BC980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445F2-DB9D-489A-A30F-5F3D6FF95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253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CDA23-1400-2F39-52E2-53ED25C51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76120-81A8-B9BB-E254-C09B0A04D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141C95-F96B-55F1-ABE4-9EEFC64388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544812-B597-38BE-EB88-CDE8CA9763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A2BC5D-F423-0F6E-8AE9-C64D987FB9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E7758B-1D56-5034-398B-CF2B623EC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08777-D8E4-48B9-88F2-93B50ADA839C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04D673-6929-5F31-9D56-5ACC3B5AC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CC9CD0-964A-646C-44E0-FFF07F44B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445F2-DB9D-489A-A30F-5F3D6FF95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788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6AB83-C5DB-2FFB-A714-053280255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18FED-2E15-3100-B0A5-DFB74A3F0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08777-D8E4-48B9-88F2-93B50ADA839C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80FBD8-DD3B-A168-7E48-7660E9C80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8F39FF-09AD-6FC8-F8F7-9998BCC61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445F2-DB9D-489A-A30F-5F3D6FF95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460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27D243-53F7-E8EB-EA31-ADF5BA653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08777-D8E4-48B9-88F2-93B50ADA839C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5DE177-0FCC-C821-4D42-D7CA4A837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E2CA5-EA36-D4EC-C135-3008768BF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445F2-DB9D-489A-A30F-5F3D6FF95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650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30238-E67D-F673-BC2F-DCE88DC8E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7CE9F-120A-6E38-10B0-906C9A68B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C4BFC-2D57-9772-94BB-72146AA3C0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A366DD-4807-C334-6846-994244F50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08777-D8E4-48B9-88F2-93B50ADA839C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98B14F-8D66-644C-8978-878AC2833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E7539-D558-8F7D-673E-243C3AC4A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445F2-DB9D-489A-A30F-5F3D6FF95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115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E95C1-CB35-BCB8-788F-9AB62CC17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E53A00-EC4F-F00E-2C13-7C7DA0E66F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A84E5C-289F-3285-4618-B5C8399F5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27F594-FF18-163C-707C-81A48933F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08777-D8E4-48B9-88F2-93B50ADA839C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C48003-62AF-87EE-6130-654BA08E8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A979F-D7A9-F7DD-179C-F900B7E4C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445F2-DB9D-489A-A30F-5F3D6FF95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860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DD5FD-94E6-C780-7B02-860823FFE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F1D71A-A667-3F4F-7A8E-BBEB4EB4D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98336-019E-5610-E786-0875EA4A9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08777-D8E4-48B9-88F2-93B50ADA839C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501D1-6626-CA27-5FEC-9E5AA565D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3B53A-B9AC-0624-4A18-7982F47C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445F2-DB9D-489A-A30F-5F3D6FF95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906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B0E147-CBA5-C136-89E4-CD1A6F4300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357523-C74E-8FA8-D27B-8A7DE4C638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0C299-D8BD-CBD0-ACBC-0EE0EB711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08777-D8E4-48B9-88F2-93B50ADA839C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20789-6828-E953-2829-E1C26013E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1938F-4FA6-6B32-8763-5BE60946A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445F2-DB9D-489A-A30F-5F3D6FF95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79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FC5C27-11AC-ECEF-AEDF-DC170540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F64D38-8071-DBD1-D262-975005B6B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9C353-4891-15A1-EEC3-9441463D2C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408777-D8E4-48B9-88F2-93B50ADA839C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22853-DB64-C839-C2A1-20071C8DD6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3CC40-D0D1-4E77-A6CE-0BE977F851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445F2-DB9D-489A-A30F-5F3D6FF95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138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mrr40058/data-science-ml-python-ostad/blob/main/My%20Note%20and%20Practice/Text%20to%20Numerical%20Data%20Conversion/Categorical(Text%20to%20Numeric)%20data%20conversion-CTtN/Nominal%20Data/CTNtN2.%20Binary%20Encoding/Binary%20Encoding.ipynb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3AA89-B853-FD45-602D-8D0552F6CF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Bebas Neue" panose="020B0606020202050201" pitchFamily="34" charset="0"/>
              </a:rPr>
              <a:t>Binary Encoding in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58605-EE53-5BCE-68EE-DF7AECF125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i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A Hybrid Technique Combining Hashing and One-Hot Encoding for Efficient Categorical Encoding</a:t>
            </a:r>
            <a:endParaRPr lang="en-US" sz="3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3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24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22CF-61E7-D4A4-E048-D296A4542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7384-56C5-24B5-624E-767F3168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  <a:hlinkClick r:id="rId2"/>
              </a:rPr>
              <a:t>Binary encoding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ACDEB-9BE6-9E8C-F3F3-47CC1816F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Binary Encoding converts each category into a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numeric code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, then represents that number in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binary form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  <a:p>
            <a:pPr lvl="1" algn="just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Binary Encoding converts each category into a </a:t>
            </a:r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numeric code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, then represents that number in </a:t>
            </a:r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binary form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A7DDB0F-431C-1E70-38B2-8052C41655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342844"/>
              </p:ext>
            </p:extLst>
          </p:nvPr>
        </p:nvGraphicFramePr>
        <p:xfrm>
          <a:off x="1963175" y="2668477"/>
          <a:ext cx="2513106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788">
                  <a:extLst>
                    <a:ext uri="{9D8B030D-6E8A-4147-A177-3AD203B41FA5}">
                      <a16:colId xmlns:a16="http://schemas.microsoft.com/office/drawing/2014/main" val="2201767368"/>
                    </a:ext>
                  </a:extLst>
                </a:gridCol>
                <a:gridCol w="1062318">
                  <a:extLst>
                    <a:ext uri="{9D8B030D-6E8A-4147-A177-3AD203B41FA5}">
                      <a16:colId xmlns:a16="http://schemas.microsoft.com/office/drawing/2014/main" val="193965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Fruit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Price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4004185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Apple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1.2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823213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Banana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4153810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Orange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0.8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98347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Apple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1.3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133860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Orange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0.9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90990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Banana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0.6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65056054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831B390-6650-7D22-D18C-859CAD7B30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206706"/>
              </p:ext>
            </p:extLst>
          </p:nvPr>
        </p:nvGraphicFramePr>
        <p:xfrm>
          <a:off x="5809754" y="2668477"/>
          <a:ext cx="3536634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583">
                  <a:extLst>
                    <a:ext uri="{9D8B030D-6E8A-4147-A177-3AD203B41FA5}">
                      <a16:colId xmlns:a16="http://schemas.microsoft.com/office/drawing/2014/main" val="2753440174"/>
                    </a:ext>
                  </a:extLst>
                </a:gridCol>
                <a:gridCol w="1282383">
                  <a:extLst>
                    <a:ext uri="{9D8B030D-6E8A-4147-A177-3AD203B41FA5}">
                      <a16:colId xmlns:a16="http://schemas.microsoft.com/office/drawing/2014/main" val="2201767368"/>
                    </a:ext>
                  </a:extLst>
                </a:gridCol>
                <a:gridCol w="1022668">
                  <a:extLst>
                    <a:ext uri="{9D8B030D-6E8A-4147-A177-3AD203B41FA5}">
                      <a16:colId xmlns:a16="http://schemas.microsoft.com/office/drawing/2014/main" val="193965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Fruit_0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Fruit_1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185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1.2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823213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4153810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0.8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98347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1.3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133860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0.9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90990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0.6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650560543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5D9DB4C-86FA-01F1-521A-272184052835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4476281" y="4161997"/>
            <a:ext cx="1333473" cy="1524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6840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D578B-8E0D-C6FC-754E-8C64A0A80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4859E-5726-DD1B-426C-A82B0ADC3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Why Binary encoding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557E5-5FD3-16B5-F99C-3382EDD28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🎯 1. To reduce dimensionality</a:t>
            </a:r>
          </a:p>
          <a:p>
            <a:pPr lvl="1"/>
            <a:r>
              <a:rPr lang="en-US" sz="2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One-Hot Encoding</a:t>
            </a: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creates one new column per category → can explode your dataset (hundreds of columns).</a:t>
            </a:r>
          </a:p>
          <a:p>
            <a:pPr lvl="1"/>
            <a:r>
              <a:rPr lang="en-US" sz="2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Binary Encoding</a:t>
            </a: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uses fewer columns because each category is represented in </a:t>
            </a:r>
            <a:r>
              <a:rPr lang="en-US" sz="2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binary digits</a:t>
            </a: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(bits).</a:t>
            </a:r>
            <a:b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For example, 100 categories need only </a:t>
            </a:r>
            <a:r>
              <a:rPr lang="en-US" sz="2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7 binary columns</a:t>
            </a: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(since 2⁷ = 128).</a:t>
            </a:r>
          </a:p>
          <a:p>
            <a:pPr marL="0" indent="0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⚙️ 2. To keep numerical meaning neutral</a:t>
            </a:r>
          </a:p>
          <a:p>
            <a:pPr lvl="1"/>
            <a:r>
              <a:rPr lang="en-US" sz="2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Label Encoding</a:t>
            </a: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gives numeric values (1, 2, 3, 4...), but models may interpret them as having order (3 &gt; 2).</a:t>
            </a:r>
          </a:p>
          <a:p>
            <a:pPr lvl="1"/>
            <a:r>
              <a:rPr lang="en-US" sz="2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Binary Encoding</a:t>
            </a: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avoids that — each binary pattern is unique but </a:t>
            </a:r>
            <a:r>
              <a:rPr lang="en-US" sz="2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doesn’t imply order</a:t>
            </a: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3786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BB439-8628-3091-E8D5-1C68FCDAF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9BC95-FC9E-E3EC-2EC1-2702CF12C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Why Binary encoding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365DC-C1B3-4356-3D99-D38B99305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🚀 3. To improve model performance</a:t>
            </a:r>
          </a:p>
          <a:p>
            <a:pPr lvl="1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Works great for </a:t>
            </a:r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tree-based models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 (Random Forest, </a:t>
            </a:r>
            <a:r>
              <a:rPr lang="en-US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XGBoost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, etc.)</a:t>
            </a:r>
          </a:p>
          <a:p>
            <a:pPr lvl="1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Reduces </a:t>
            </a:r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overfitting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 compared to One-Hot</a:t>
            </a:r>
          </a:p>
          <a:p>
            <a:pPr lvl="1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Saves </a:t>
            </a:r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memory and computation time</a:t>
            </a:r>
          </a:p>
          <a:p>
            <a:pPr marL="457200" lvl="1" indent="0">
              <a:buNone/>
            </a:pPr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💡 Example:</a:t>
            </a:r>
          </a:p>
          <a:p>
            <a:pPr lvl="1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If you have 1,000 unique ZIP codes:</a:t>
            </a:r>
          </a:p>
          <a:p>
            <a:pPr lvl="1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One-Hot → 1,000 columns</a:t>
            </a:r>
          </a:p>
          <a:p>
            <a:pPr lvl="1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Binary Encoding → only 10 columns (since 2¹⁰ = 1024)</a:t>
            </a:r>
          </a:p>
          <a:p>
            <a:pPr lvl="1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That’s a huge space saving while still keeping distinct encodings!</a:t>
            </a:r>
          </a:p>
        </p:txBody>
      </p:sp>
    </p:spTree>
    <p:extLst>
      <p:ext uri="{BB962C8B-B14F-4D97-AF65-F5344CB8AC3E}">
        <p14:creationId xmlns:p14="http://schemas.microsoft.com/office/powerpoint/2010/main" val="2203719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1F42C-162D-95F6-A37E-4A7B6583A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F7EDF-DC80-6100-3AE3-BFCA0F9B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Why Binary encoding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D45C1-CD21-10D2-BD86-EF2CCC972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In short:</a:t>
            </a:r>
          </a:p>
          <a:p>
            <a:pPr marL="457200" lvl="1" indent="0">
              <a:buNone/>
            </a:pP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🧠 Binary Encoding = Smart, Compact, and Model-Friendly way to encode high-cardinality categorical data.</a:t>
            </a:r>
          </a:p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We use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Binary Encoding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mainly for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nominal categorical data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(categories with no natural order) — especially when there are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many unique categories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(called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high cardinality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).</a:t>
            </a:r>
          </a:p>
          <a:p>
            <a:pPr marL="0" indent="0">
              <a:buNone/>
            </a:pPr>
            <a:endParaRPr lang="en-US" sz="2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128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E665F-ED66-FDEB-D75C-B66D251D6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156E-3EB1-F0D2-4AA9-286C801ED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Label Vs one-hot vs Binary encoding</a:t>
            </a:r>
            <a:endParaRPr lang="en-US" sz="3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6966D3-1685-68BE-82AE-1BA84BC1B0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947835"/>
              </p:ext>
            </p:extLst>
          </p:nvPr>
        </p:nvGraphicFramePr>
        <p:xfrm>
          <a:off x="1655482" y="1091381"/>
          <a:ext cx="93554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3055">
                  <a:extLst>
                    <a:ext uri="{9D8B030D-6E8A-4147-A177-3AD203B41FA5}">
                      <a16:colId xmlns:a16="http://schemas.microsoft.com/office/drawing/2014/main" val="333392845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2901734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25442134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0268204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420929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Encoding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Keeps Meaning?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Risk of Order Bias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#Columns (for 4 categories)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Memory Efficient?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8250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Label Encoding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⚠️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✅ 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288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One-Hot Encoding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✅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❌ 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8919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Binary Encoding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✅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✅✅ 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4487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8305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381</Words>
  <Application>Microsoft Office PowerPoint</Application>
  <PresentationFormat>Widescreen</PresentationFormat>
  <Paragraphs>84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Bebas Neue</vt:lpstr>
      <vt:lpstr>Calibri</vt:lpstr>
      <vt:lpstr>Calibri Light</vt:lpstr>
      <vt:lpstr>Open Sans</vt:lpstr>
      <vt:lpstr>Office Theme</vt:lpstr>
      <vt:lpstr>Binary Encoding in Machine Learning</vt:lpstr>
      <vt:lpstr>Binary encoding</vt:lpstr>
      <vt:lpstr>Why Binary encoding</vt:lpstr>
      <vt:lpstr>Why Binary encoding</vt:lpstr>
      <vt:lpstr>Why Binary encoding</vt:lpstr>
      <vt:lpstr>Label Vs one-hot vs Binary encoding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 M RIFAT REZA</dc:creator>
  <cp:lastModifiedBy>G M RIFAT REZA</cp:lastModifiedBy>
  <cp:revision>9</cp:revision>
  <dcterms:created xsi:type="dcterms:W3CDTF">2025-11-08T04:14:06Z</dcterms:created>
  <dcterms:modified xsi:type="dcterms:W3CDTF">2025-11-19T09:57:31Z</dcterms:modified>
</cp:coreProperties>
</file>
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5" r:id="rId2"/>
    <p:sldId id="286" r:id="rId3"/>
    <p:sldId id="276" r:id="rId4"/>
    <p:sldId id="277" r:id="rId5"/>
    <p:sldId id="278" r:id="rId6"/>
    <p:sldId id="279" r:id="rId7"/>
    <p:sldId id="280" r:id="rId8"/>
    <p:sldId id="281" r:id="rId9"/>
    <p:sldId id="282" r:id="rId10"/>
    <p:sldId id="287" r:id="rId11"/>
    <p:sldId id="288" r:id="rId12"/>
    <p:sldId id="283" r:id="rId13"/>
    <p:sldId id="289" r:id="rId14"/>
    <p:sldId id="290" r:id="rId15"/>
    <p:sldId id="284" r:id="rId16"/>
    <p:sldId id="285" r:id="rId17"/>
    <p:sldId id="273" r:id="rId18"/>
    <p:sldId id="274" r:id="rId19"/>
    <p:sldId id="2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71" autoAdjust="0"/>
    <p:restoredTop sz="95039" autoAdjust="0"/>
  </p:normalViewPr>
  <p:slideViewPr>
    <p:cSldViewPr snapToGrid="0">
      <p:cViewPr varScale="1">
        <p:scale>
          <a:sx n="82" d="100"/>
          <a:sy n="82" d="100"/>
        </p:scale>
        <p:origin x="10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595E0-8E92-4D4C-8397-7309550C394C}"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B467F-4A89-4228-8CF5-55D1ABAC541F}" type="slidenum">
              <a:rPr lang="en-US" smtClean="0"/>
              <a:t>‹#›</a:t>
            </a:fld>
            <a:endParaRPr lang="en-US"/>
          </a:p>
        </p:txBody>
      </p:sp>
    </p:spTree>
    <p:extLst>
      <p:ext uri="{BB962C8B-B14F-4D97-AF65-F5344CB8AC3E}">
        <p14:creationId xmlns:p14="http://schemas.microsoft.com/office/powerpoint/2010/main" val="3174517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When to use a Population:</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Populations are used when your research question requires it, or when you have access to data from every member of the population. Usually, it is only straightforward to collect data from a whole population when it is small, accessible, and cooperative.</a:t>
            </a:r>
          </a:p>
          <a:p>
            <a:pPr rtl="0" fontAlgn="base"/>
            <a:r>
              <a:rPr lang="en-US" sz="1200" b="1" i="0" kern="1200" dirty="0">
                <a:solidFill>
                  <a:schemeClr val="tx1"/>
                </a:solidFill>
                <a:effectLst/>
                <a:latin typeface="+mn-lt"/>
                <a:ea typeface="+mn-ea"/>
                <a:cs typeface="+mn-cs"/>
              </a:rPr>
              <a:t>Example:</a:t>
            </a:r>
            <a:endParaRPr lang="en-US" sz="1200" b="0" i="0" kern="1200" dirty="0">
              <a:solidFill>
                <a:schemeClr val="tx1"/>
              </a:solidFill>
              <a:effectLst/>
              <a:latin typeface="+mn-lt"/>
              <a:ea typeface="+mn-ea"/>
              <a:cs typeface="+mn-cs"/>
            </a:endParaRP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A marketing manager at a </a:t>
            </a:r>
            <a:r>
              <a:rPr lang="en-US" sz="1200" b="1" i="1" kern="1200" dirty="0">
                <a:solidFill>
                  <a:schemeClr val="tx1"/>
                </a:solidFill>
                <a:effectLst/>
                <a:latin typeface="+mn-lt"/>
                <a:ea typeface="+mn-ea"/>
                <a:cs typeface="+mn-cs"/>
              </a:rPr>
              <a:t>small local bakery</a:t>
            </a:r>
            <a:r>
              <a:rPr lang="en-US" sz="1200" b="0" i="1" kern="1200" dirty="0">
                <a:solidFill>
                  <a:schemeClr val="tx1"/>
                </a:solidFill>
                <a:effectLst/>
                <a:latin typeface="+mn-lt"/>
                <a:ea typeface="+mn-ea"/>
                <a:cs typeface="+mn-cs"/>
              </a:rPr>
              <a:t> wants to understand customer preferences.</a:t>
            </a: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They collect data on </a:t>
            </a:r>
            <a:r>
              <a:rPr lang="en-US" sz="1200" b="1" i="1" kern="1200" dirty="0">
                <a:solidFill>
                  <a:schemeClr val="tx1"/>
                </a:solidFill>
                <a:effectLst/>
                <a:latin typeface="+mn-lt"/>
                <a:ea typeface="+mn-ea"/>
                <a:cs typeface="+mn-cs"/>
              </a:rPr>
              <a:t>every customer’s bread purchase</a:t>
            </a:r>
            <a:r>
              <a:rPr lang="en-US" sz="1200" b="0" i="1" kern="1200" dirty="0">
                <a:solidFill>
                  <a:schemeClr val="tx1"/>
                </a:solidFill>
                <a:effectLst/>
                <a:latin typeface="+mn-lt"/>
                <a:ea typeface="+mn-ea"/>
                <a:cs typeface="+mn-cs"/>
              </a:rPr>
              <a:t> over a month.</a:t>
            </a: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Since the customer base is limited and accessible, they analyze the </a:t>
            </a:r>
            <a:r>
              <a:rPr lang="en-US" sz="1200" b="1" i="1" kern="1200" dirty="0">
                <a:solidFill>
                  <a:schemeClr val="tx1"/>
                </a:solidFill>
                <a:effectLst/>
                <a:latin typeface="+mn-lt"/>
                <a:ea typeface="+mn-ea"/>
                <a:cs typeface="+mn-cs"/>
              </a:rPr>
              <a:t>entire population</a:t>
            </a:r>
            <a:r>
              <a:rPr lang="en-US" sz="1200" b="0" i="1" kern="1200" dirty="0">
                <a:solidFill>
                  <a:schemeClr val="tx1"/>
                </a:solidFill>
                <a:effectLst/>
                <a:latin typeface="+mn-lt"/>
                <a:ea typeface="+mn-ea"/>
                <a:cs typeface="+mn-cs"/>
              </a:rPr>
              <a:t> to identify trends.</a:t>
            </a:r>
          </a:p>
        </p:txBody>
      </p:sp>
      <p:sp>
        <p:nvSpPr>
          <p:cNvPr id="4" name="Slide Number Placeholder 3"/>
          <p:cNvSpPr>
            <a:spLocks noGrp="1"/>
          </p:cNvSpPr>
          <p:nvPr>
            <p:ph type="sldNum" sz="quarter" idx="5"/>
          </p:nvPr>
        </p:nvSpPr>
        <p:spPr/>
        <p:txBody>
          <a:bodyPr/>
          <a:lstStyle/>
          <a:p>
            <a:fld id="{941B467F-4A89-4228-8CF5-55D1ABAC541F}" type="slidenum">
              <a:rPr lang="en-US" smtClean="0"/>
              <a:t>4</a:t>
            </a:fld>
            <a:endParaRPr lang="en-US"/>
          </a:p>
        </p:txBody>
      </p:sp>
    </p:spTree>
    <p:extLst>
      <p:ext uri="{BB962C8B-B14F-4D97-AF65-F5344CB8AC3E}">
        <p14:creationId xmlns:p14="http://schemas.microsoft.com/office/powerpoint/2010/main" val="4055541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When to use a Sample:</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When your population is large in size, geographically dispersed, or difficult to contact, it’s necessary to use a sample. With statistical analysis, you can use sample data to make estimates or test hypotheses about population data.</a:t>
            </a:r>
          </a:p>
          <a:p>
            <a:pPr rtl="0" fontAlgn="base"/>
            <a:r>
              <a:rPr lang="en-US" sz="1200" b="1" i="0" kern="1200" dirty="0">
                <a:solidFill>
                  <a:schemeClr val="tx1"/>
                </a:solidFill>
                <a:effectLst/>
                <a:latin typeface="+mn-lt"/>
                <a:ea typeface="+mn-ea"/>
                <a:cs typeface="+mn-cs"/>
              </a:rPr>
              <a:t>Example:</a:t>
            </a:r>
            <a:endParaRPr lang="en-US" sz="1200" b="0" i="0" kern="1200" dirty="0">
              <a:solidFill>
                <a:schemeClr val="tx1"/>
              </a:solidFill>
              <a:effectLst/>
              <a:latin typeface="+mn-lt"/>
              <a:ea typeface="+mn-ea"/>
              <a:cs typeface="+mn-cs"/>
            </a:endParaRP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You're researching </a:t>
            </a:r>
            <a:r>
              <a:rPr lang="en-US" sz="1200" b="1" i="1" kern="1200" dirty="0">
                <a:solidFill>
                  <a:schemeClr val="tx1"/>
                </a:solidFill>
                <a:effectLst/>
                <a:latin typeface="+mn-lt"/>
                <a:ea typeface="+mn-ea"/>
                <a:cs typeface="+mn-cs"/>
              </a:rPr>
              <a:t>smartphone usage among teenagers</a:t>
            </a:r>
            <a:r>
              <a:rPr lang="en-US" sz="1200" b="0" i="1" kern="1200" dirty="0">
                <a:solidFill>
                  <a:schemeClr val="tx1"/>
                </a:solidFill>
                <a:effectLst/>
                <a:latin typeface="+mn-lt"/>
                <a:ea typeface="+mn-ea"/>
                <a:cs typeface="+mn-cs"/>
              </a:rPr>
              <a:t> in a city.</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The population includes </a:t>
            </a:r>
            <a:r>
              <a:rPr lang="en-US" sz="1200" b="1" i="1" kern="1200" dirty="0">
                <a:solidFill>
                  <a:schemeClr val="tx1"/>
                </a:solidFill>
                <a:effectLst/>
                <a:latin typeface="+mn-lt"/>
                <a:ea typeface="+mn-ea"/>
                <a:cs typeface="+mn-cs"/>
              </a:rPr>
              <a:t>all teenagers aged 13–18</a:t>
            </a:r>
            <a:r>
              <a:rPr lang="en-US" sz="1200" b="0" i="1" kern="1200" dirty="0">
                <a:solidFill>
                  <a:schemeClr val="tx1"/>
                </a:solidFill>
                <a:effectLst/>
                <a:latin typeface="+mn-lt"/>
                <a:ea typeface="+mn-ea"/>
                <a:cs typeface="+mn-cs"/>
              </a:rPr>
              <a:t>, which could be tens of thousands.</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You select a </a:t>
            </a:r>
            <a:r>
              <a:rPr lang="en-US" sz="1200" b="1" i="1" kern="1200" dirty="0">
                <a:solidFill>
                  <a:schemeClr val="tx1"/>
                </a:solidFill>
                <a:effectLst/>
                <a:latin typeface="+mn-lt"/>
                <a:ea typeface="+mn-ea"/>
                <a:cs typeface="+mn-cs"/>
              </a:rPr>
              <a:t>random sample of 500 teens</a:t>
            </a:r>
            <a:r>
              <a:rPr lang="en-US" sz="1200" b="0" i="1" kern="1200" dirty="0">
                <a:solidFill>
                  <a:schemeClr val="tx1"/>
                </a:solidFill>
                <a:effectLst/>
                <a:latin typeface="+mn-lt"/>
                <a:ea typeface="+mn-ea"/>
                <a:cs typeface="+mn-cs"/>
              </a:rPr>
              <a:t> from different schools.</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This sample participates in surveys to provide insights into broader usage patterns.</a:t>
            </a:r>
          </a:p>
          <a:p>
            <a:pPr marL="0" lvl="0" indent="0" fontAlgn="base">
              <a:buFont typeface="Arial" panose="020B0604020202020204" pitchFamily="34" charset="0"/>
              <a:buNone/>
            </a:pPr>
            <a:endParaRPr lang="en-US" sz="1200" b="0" i="1" kern="1200" dirty="0">
              <a:solidFill>
                <a:schemeClr val="tx1"/>
              </a:solidFill>
              <a:effectLst/>
              <a:latin typeface="+mn-lt"/>
              <a:ea typeface="+mn-ea"/>
              <a:cs typeface="+mn-cs"/>
            </a:endParaRPr>
          </a:p>
          <a:p>
            <a:pPr marL="171450" lvl="0" indent="-171450" fontAlgn="base">
              <a:buFont typeface="Wingdings" panose="05000000000000000000" pitchFamily="2" charset="2"/>
              <a:buChar char="Ø"/>
            </a:pPr>
            <a:r>
              <a:rPr lang="en-US" dirty="0"/>
              <a:t>Data samples can be collected either randomly or sequentially, depending on the experimental design.</a:t>
            </a:r>
            <a:endParaRPr lang="en-U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41B467F-4A89-4228-8CF5-55D1ABAC541F}" type="slidenum">
              <a:rPr lang="en-US" smtClean="0"/>
              <a:t>5</a:t>
            </a:fld>
            <a:endParaRPr lang="en-US"/>
          </a:p>
        </p:txBody>
      </p:sp>
    </p:spTree>
    <p:extLst>
      <p:ext uri="{BB962C8B-B14F-4D97-AF65-F5344CB8AC3E}">
        <p14:creationId xmlns:p14="http://schemas.microsoft.com/office/powerpoint/2010/main" val="238970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Population </a:t>
            </a:r>
          </a:p>
          <a:p>
            <a:pPr marL="685800" marR="0" lvl="1" indent="-228600" algn="l" defTabSz="914400" rtl="0" eaLnBrk="1" fontAlgn="base"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The population includes all members of a specified group.	</a:t>
            </a:r>
          </a:p>
          <a:p>
            <a:pPr marL="685800" marR="0" lvl="1" indent="-228600" algn="l" defTabSz="914400" rtl="0" eaLnBrk="1" fontAlgn="base"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Collecting data from an entire population can be time-consuming, expensive, and sometimes impractical or impossible.</a:t>
            </a:r>
          </a:p>
          <a:p>
            <a:pPr marL="685800" lvl="1" indent="-228600" rtl="0" fontAlgn="base">
              <a:buFont typeface="+mj-lt"/>
              <a:buAutoNum type="arabicPeriod"/>
            </a:pPr>
            <a:r>
              <a:rPr lang="en-US" sz="1200" b="0" i="0" kern="1200" dirty="0">
                <a:solidFill>
                  <a:schemeClr val="tx1"/>
                </a:solidFill>
                <a:effectLst/>
                <a:latin typeface="+mn-lt"/>
                <a:ea typeface="+mn-ea"/>
                <a:cs typeface="+mn-cs"/>
              </a:rPr>
              <a:t>Includes all residents in the city.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Sample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A sample is a subset of the population.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Samples offer a more feasible approach to studying populations, allowing researchers to draw conclusions based on smaller, manageable datasets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Consists of 1000 households, a subset of the entire population.</a:t>
            </a:r>
          </a:p>
        </p:txBody>
      </p:sp>
      <p:sp>
        <p:nvSpPr>
          <p:cNvPr id="4" name="Slide Number Placeholder 3"/>
          <p:cNvSpPr>
            <a:spLocks noGrp="1"/>
          </p:cNvSpPr>
          <p:nvPr>
            <p:ph type="sldNum" sz="quarter" idx="5"/>
          </p:nvPr>
        </p:nvSpPr>
        <p:spPr/>
        <p:txBody>
          <a:bodyPr/>
          <a:lstStyle/>
          <a:p>
            <a:fld id="{941B467F-4A89-4228-8CF5-55D1ABAC541F}" type="slidenum">
              <a:rPr lang="en-US" smtClean="0"/>
              <a:t>6</a:t>
            </a:fld>
            <a:endParaRPr lang="en-US"/>
          </a:p>
        </p:txBody>
      </p:sp>
    </p:spTree>
    <p:extLst>
      <p:ext uri="{BB962C8B-B14F-4D97-AF65-F5344CB8AC3E}">
        <p14:creationId xmlns:p14="http://schemas.microsoft.com/office/powerpoint/2010/main" val="224649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4EBD-2107-5CA9-4E66-74FBBA170E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E78CCD-0217-1FC9-74A4-E12631546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138A9A-C40C-E437-CE92-B06352D04AA5}"/>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2F1155FD-C77B-56ED-4368-181AE9B78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665F8-33D5-3A3C-8BFA-62D73038A0C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40098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5D4C-F7E3-DAA9-68A7-CD707795B2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49C6AD-B9F4-FBDD-DAA4-09E4A16278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CD5DC3-2533-5371-649A-564023A29D7E}"/>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A9CC6CFF-4131-3188-C3C7-91B8C5F3E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46072-23EE-F0A8-1F37-8CED20F5A493}"/>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4073046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D38F-420E-985D-3ACB-D25625520E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E68E2F-FB23-6139-A6BE-061ABC16E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3AD05-0FA9-DAED-06AF-98717B2A99E8}"/>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F9C6D06B-61D7-5A43-B8FE-EB50BB204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B93D68-D6FF-44C0-467C-ED94D4482AFF}"/>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621003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A6459-61E3-0F10-953C-2E83A18C4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495C3-7CD7-ED08-A82B-B73117D017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CF435D-03AE-8D30-CAD0-FDE9A57E8F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6C65BE-81AC-CD2B-10CC-162130658735}"/>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6" name="Footer Placeholder 5">
            <a:extLst>
              <a:ext uri="{FF2B5EF4-FFF2-40B4-BE49-F238E27FC236}">
                <a16:creationId xmlns:a16="http://schemas.microsoft.com/office/drawing/2014/main" id="{DE68F199-E37D-1341-6990-3C3BA30B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15D2D-71BB-CAA5-180C-C025088F84B7}"/>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688317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6409-E7B4-80F1-B061-8F4E207C1E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21D8A7-359D-6ED7-1B68-FC15CBB2BF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49B820-5360-41BE-5F14-B16DFF07BF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EA2AB6-BB07-6CAB-3A92-D8E8EB3F03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99F293-6037-8BA5-0E41-9E0C45A197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493DE6-1542-A819-C95D-DDA202BCAF5C}"/>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8" name="Footer Placeholder 7">
            <a:extLst>
              <a:ext uri="{FF2B5EF4-FFF2-40B4-BE49-F238E27FC236}">
                <a16:creationId xmlns:a16="http://schemas.microsoft.com/office/drawing/2014/main" id="{4BB3CC58-C974-624B-7C61-5C0FEE863D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AE141B-A01D-75AE-832C-ADD11D23341F}"/>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33195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C5007-EB88-271B-23AD-1DAC0601BC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89F8D2-95A4-99AC-AB2A-B49CA1AD302B}"/>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4" name="Footer Placeholder 3">
            <a:extLst>
              <a:ext uri="{FF2B5EF4-FFF2-40B4-BE49-F238E27FC236}">
                <a16:creationId xmlns:a16="http://schemas.microsoft.com/office/drawing/2014/main" id="{5CAE14D0-771B-1F32-5B8F-295FECAEAA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6C9050-0F81-A512-2B57-831270F8A86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67080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4A8E9A-3F51-1092-A4C5-9A87B26C4E08}"/>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3" name="Footer Placeholder 2">
            <a:extLst>
              <a:ext uri="{FF2B5EF4-FFF2-40B4-BE49-F238E27FC236}">
                <a16:creationId xmlns:a16="http://schemas.microsoft.com/office/drawing/2014/main" id="{CF6A55D8-0AED-A676-B7D0-809AA13744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E3C5CB-D25C-A2CF-0D43-6C8B34E49553}"/>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72698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BC35-7F40-292D-0C9F-F3FAD29AB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2B189-9F62-20F2-6F97-41F7DAE7BA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A12E2A-D40F-E383-A6D3-09C62FCCD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F1F046-45FC-E94C-57E7-566BD4FF8484}"/>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6" name="Footer Placeholder 5">
            <a:extLst>
              <a:ext uri="{FF2B5EF4-FFF2-40B4-BE49-F238E27FC236}">
                <a16:creationId xmlns:a16="http://schemas.microsoft.com/office/drawing/2014/main" id="{E85DC281-D43D-6C1F-C7DE-9390BC4B99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AE02C5-B7FD-9044-693C-691483AB92B5}"/>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811082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7966D-423D-6003-5C9B-0DFDF6426F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DF773-6109-C68D-8616-B6EE1B1B59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36F4E3-6DAA-1C17-C68D-EFE6AF257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C8100-49E8-058C-BCF1-9EE5AFD6E7D6}"/>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6" name="Footer Placeholder 5">
            <a:extLst>
              <a:ext uri="{FF2B5EF4-FFF2-40B4-BE49-F238E27FC236}">
                <a16:creationId xmlns:a16="http://schemas.microsoft.com/office/drawing/2014/main" id="{E6E1F451-21CB-5399-A02C-C46A3C4A8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AE6D1C-426A-2A50-E62E-DA016190CF3D}"/>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3475211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5A04-D4D6-B83D-4A9D-87E4EBF26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E6789E-BE37-FC55-AAB8-5F86DFF564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6C76A-4379-746A-44AD-74B9AD05EE93}"/>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C0328CF6-A6ED-F728-7BD1-FF45D5924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AACE4-A29E-CC5F-FE60-46CC4A9FEFF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938621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622702-5921-0F52-405B-84C615CB16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5D26E8-A93B-6105-1156-FC9C352906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71FB8-CEAA-D4F7-F1EE-61C2FDC58393}"/>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505F773D-B3A4-92EF-D624-0FF4524BB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DE48C-F0AF-6A52-9EBE-C502F38D51F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106906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12BDAE-5DED-13DB-44AF-D57D52CB4B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65039-1E18-8B98-9924-3A858DEBCD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50413-8679-64B0-9053-595AAD2540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2A3CA623-1972-2F19-248B-84FD4CBE23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717967-2F3E-66B8-3ACA-8FC25A9019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676C6-1A98-4305-82A0-FDD5413B843C}" type="slidenum">
              <a:rPr lang="en-US" smtClean="0"/>
              <a:t>‹#›</a:t>
            </a:fld>
            <a:endParaRPr lang="en-US"/>
          </a:p>
        </p:txBody>
      </p:sp>
    </p:spTree>
    <p:extLst>
      <p:ext uri="{BB962C8B-B14F-4D97-AF65-F5344CB8AC3E}">
        <p14:creationId xmlns:p14="http://schemas.microsoft.com/office/powerpoint/2010/main" val="3288966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857DA-740C-9F47-0E6A-0519C06F29D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4B8F9A-D7D2-A768-5B9D-634C3115C8F2}"/>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Data</a:t>
            </a:r>
          </a:p>
        </p:txBody>
      </p:sp>
      <p:sp>
        <p:nvSpPr>
          <p:cNvPr id="7" name="TextBox 6">
            <a:extLst>
              <a:ext uri="{FF2B5EF4-FFF2-40B4-BE49-F238E27FC236}">
                <a16:creationId xmlns:a16="http://schemas.microsoft.com/office/drawing/2014/main" id="{B2B06E73-6B42-18CF-8A4E-13AD2DD3595F}"/>
              </a:ext>
            </a:extLst>
          </p:cNvPr>
          <p:cNvSpPr txBox="1"/>
          <p:nvPr/>
        </p:nvSpPr>
        <p:spPr>
          <a:xfrm>
            <a:off x="1597742" y="1049454"/>
            <a:ext cx="8996516" cy="4154984"/>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Data is the raw form of information, a collection of facts, figures, symbols or observations that represent details about events, objects or phenomena. </a:t>
            </a:r>
          </a:p>
          <a:p>
            <a:pPr algn="just"/>
            <a:endParaRPr lang="en-US" sz="2400" dirty="0">
              <a:latin typeface="Open Sans" pitchFamily="2" charset="0"/>
              <a:ea typeface="Open Sans" pitchFamily="2" charset="0"/>
              <a:cs typeface="Open Sans" pitchFamily="2" charset="0"/>
            </a:endParaRPr>
          </a:p>
          <a:p>
            <a:pPr algn="just"/>
            <a:r>
              <a:rPr lang="en-US" sz="2400" dirty="0">
                <a:latin typeface="Open Sans" pitchFamily="2" charset="0"/>
                <a:ea typeface="Open Sans" pitchFamily="2" charset="0"/>
                <a:cs typeface="Open Sans" pitchFamily="2" charset="0"/>
              </a:rPr>
              <a:t>By itself, data may appear meaningless, but when organized, processed and interpreted, it transforms into valuable insights that support decision-making, problem-solving and innovation.</a:t>
            </a:r>
          </a:p>
          <a:p>
            <a:pPr algn="just"/>
            <a:endParaRPr lang="en-US" sz="2400" dirty="0">
              <a:latin typeface="Open Sans" pitchFamily="2" charset="0"/>
              <a:ea typeface="Open Sans" pitchFamily="2" charset="0"/>
              <a:cs typeface="Open Sans" pitchFamily="2" charset="0"/>
            </a:endParaRP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We use data to </a:t>
            </a:r>
            <a:r>
              <a:rPr lang="en-US" sz="2400" b="1" dirty="0">
                <a:latin typeface="Open Sans" pitchFamily="2" charset="0"/>
                <a:ea typeface="Open Sans" pitchFamily="2" charset="0"/>
                <a:cs typeface="Open Sans" pitchFamily="2" charset="0"/>
              </a:rPr>
              <a:t>find patterns</a:t>
            </a:r>
            <a:r>
              <a:rPr lang="en-US" sz="2400" dirty="0">
                <a:latin typeface="Open Sans" pitchFamily="2" charset="0"/>
                <a:ea typeface="Open Sans" pitchFamily="2" charset="0"/>
                <a:cs typeface="Open Sans" pitchFamily="2" charset="0"/>
              </a:rPr>
              <a:t>, </a:t>
            </a:r>
            <a:r>
              <a:rPr lang="en-US" sz="2400" b="1" dirty="0">
                <a:latin typeface="Open Sans" pitchFamily="2" charset="0"/>
                <a:ea typeface="Open Sans" pitchFamily="2" charset="0"/>
                <a:cs typeface="Open Sans" pitchFamily="2" charset="0"/>
              </a:rPr>
              <a:t>make predictions</a:t>
            </a:r>
            <a:r>
              <a:rPr lang="en-US" sz="2400" dirty="0">
                <a:latin typeface="Open Sans" pitchFamily="2" charset="0"/>
                <a:ea typeface="Open Sans" pitchFamily="2" charset="0"/>
                <a:cs typeface="Open Sans" pitchFamily="2" charset="0"/>
              </a:rPr>
              <a:t>, and </a:t>
            </a:r>
            <a:r>
              <a:rPr lang="en-US" sz="2400" b="1" dirty="0">
                <a:latin typeface="Open Sans" pitchFamily="2" charset="0"/>
                <a:ea typeface="Open Sans" pitchFamily="2" charset="0"/>
                <a:cs typeface="Open Sans" pitchFamily="2" charset="0"/>
              </a:rPr>
              <a:t>support decisions</a:t>
            </a:r>
            <a:r>
              <a:rPr lang="en-US" sz="2400" dirty="0">
                <a:latin typeface="Open Sans" pitchFamily="2" charset="0"/>
                <a:ea typeface="Open Sans" pitchFamily="2" charset="0"/>
                <a:cs typeface="Open Sans" pitchFamily="2" charset="0"/>
              </a:rPr>
              <a:t>.</a:t>
            </a:r>
          </a:p>
        </p:txBody>
      </p:sp>
    </p:spTree>
    <p:extLst>
      <p:ext uri="{BB962C8B-B14F-4D97-AF65-F5344CB8AC3E}">
        <p14:creationId xmlns:p14="http://schemas.microsoft.com/office/powerpoint/2010/main" val="2060071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EC6DC-81A1-9031-09C3-3680269BC3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20C03A-7DC9-1998-1BD4-72F70DC7AB54}"/>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Importance Data</a:t>
            </a:r>
          </a:p>
        </p:txBody>
      </p:sp>
      <p:sp>
        <p:nvSpPr>
          <p:cNvPr id="7" name="TextBox 6">
            <a:extLst>
              <a:ext uri="{FF2B5EF4-FFF2-40B4-BE49-F238E27FC236}">
                <a16:creationId xmlns:a16="http://schemas.microsoft.com/office/drawing/2014/main" id="{C7F9AC99-BEEE-4BEF-188E-D7A5B285957A}"/>
              </a:ext>
            </a:extLst>
          </p:cNvPr>
          <p:cNvSpPr txBox="1"/>
          <p:nvPr/>
        </p:nvSpPr>
        <p:spPr>
          <a:xfrm>
            <a:off x="1597742" y="1049454"/>
            <a:ext cx="8996516" cy="3416320"/>
          </a:xfrm>
          <a:prstGeom prst="rect">
            <a:avLst/>
          </a:prstGeom>
          <a:noFill/>
        </p:spPr>
        <p:txBody>
          <a:bodyPr wrap="square" rtlCol="0">
            <a:spAutoFit/>
          </a:bodyPr>
          <a:lstStyle/>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Decision-making and insights</a:t>
            </a:r>
            <a:r>
              <a:rPr lang="en-US" sz="2400" dirty="0">
                <a:latin typeface="Open Sans" pitchFamily="2" charset="0"/>
                <a:ea typeface="Open Sans" pitchFamily="2" charset="0"/>
                <a:cs typeface="Open Sans" pitchFamily="2" charset="0"/>
              </a:rPr>
              <a:t>: Organizations use data to make better decisions. Raw data becomes useful when transformed into insights with the help of analytics.</a:t>
            </a:r>
          </a:p>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AI/ML and Innovation</a:t>
            </a:r>
            <a:r>
              <a:rPr lang="en-US" sz="2400" dirty="0">
                <a:latin typeface="Open Sans" pitchFamily="2" charset="0"/>
                <a:ea typeface="Open Sans" pitchFamily="2" charset="0"/>
                <a:cs typeface="Open Sans" pitchFamily="2" charset="0"/>
              </a:rPr>
              <a:t>: Data is the fuel for artificial intelligence and machine learning. More and higher-quality data means better training, more accurate predictions.</a:t>
            </a:r>
          </a:p>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Digital transformation</a:t>
            </a:r>
            <a:r>
              <a:rPr lang="en-US" sz="2400" dirty="0">
                <a:latin typeface="Open Sans" pitchFamily="2" charset="0"/>
                <a:ea typeface="Open Sans" pitchFamily="2" charset="0"/>
                <a:cs typeface="Open Sans" pitchFamily="2" charset="0"/>
              </a:rPr>
              <a:t>: The rise of Big Data has enabled new capabilities i.e. from real-time analytics to personalized services.</a:t>
            </a:r>
          </a:p>
        </p:txBody>
      </p:sp>
    </p:spTree>
    <p:extLst>
      <p:ext uri="{BB962C8B-B14F-4D97-AF65-F5344CB8AC3E}">
        <p14:creationId xmlns:p14="http://schemas.microsoft.com/office/powerpoint/2010/main" val="285159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621F-122D-B722-12D2-7849E4236D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00E868-8A60-3C2F-56B6-ABC2F61778D3}"/>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 of Data based on source or scope</a:t>
            </a:r>
          </a:p>
        </p:txBody>
      </p:sp>
      <p:sp>
        <p:nvSpPr>
          <p:cNvPr id="7" name="TextBox 6">
            <a:extLst>
              <a:ext uri="{FF2B5EF4-FFF2-40B4-BE49-F238E27FC236}">
                <a16:creationId xmlns:a16="http://schemas.microsoft.com/office/drawing/2014/main" id="{A8204CF9-E567-9074-7439-3B70E9A3AF67}"/>
              </a:ext>
            </a:extLst>
          </p:cNvPr>
          <p:cNvSpPr txBox="1"/>
          <p:nvPr/>
        </p:nvSpPr>
        <p:spPr>
          <a:xfrm>
            <a:off x="1597742" y="1049454"/>
            <a:ext cx="8996516" cy="830997"/>
          </a:xfrm>
          <a:prstGeom prst="rect">
            <a:avLst/>
          </a:prstGeom>
          <a:noFill/>
        </p:spPr>
        <p:txBody>
          <a:bodyPr wrap="square" rtlCol="0">
            <a:spAutoFit/>
          </a:bodyPr>
          <a:lstStyle/>
          <a:p>
            <a:pPr marL="457200" indent="-457200" algn="just">
              <a:buFont typeface="+mj-lt"/>
              <a:buAutoNum type="arabicPeriod"/>
            </a:pPr>
            <a:r>
              <a:rPr lang="en-US" sz="2400" dirty="0">
                <a:latin typeface="Open Sans" pitchFamily="2" charset="0"/>
                <a:ea typeface="Open Sans" pitchFamily="2" charset="0"/>
                <a:cs typeface="Open Sans" pitchFamily="2" charset="0"/>
              </a:rPr>
              <a:t>Population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Sample Data</a:t>
            </a:r>
          </a:p>
        </p:txBody>
      </p:sp>
    </p:spTree>
    <p:extLst>
      <p:ext uri="{BB962C8B-B14F-4D97-AF65-F5344CB8AC3E}">
        <p14:creationId xmlns:p14="http://schemas.microsoft.com/office/powerpoint/2010/main" val="3048263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10A9-B480-DB1A-F587-21F68D8707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0408F4-08E2-31B4-F404-AF71DF53FEA9}"/>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Population Data</a:t>
            </a:r>
          </a:p>
        </p:txBody>
      </p:sp>
      <p:sp>
        <p:nvSpPr>
          <p:cNvPr id="7" name="TextBox 6">
            <a:extLst>
              <a:ext uri="{FF2B5EF4-FFF2-40B4-BE49-F238E27FC236}">
                <a16:creationId xmlns:a16="http://schemas.microsoft.com/office/drawing/2014/main" id="{EFED6C68-02D0-5917-0C54-84E2F8B55CA9}"/>
              </a:ext>
            </a:extLst>
          </p:cNvPr>
          <p:cNvSpPr txBox="1"/>
          <p:nvPr/>
        </p:nvSpPr>
        <p:spPr>
          <a:xfrm>
            <a:off x="1597742" y="1049454"/>
            <a:ext cx="8996516" cy="4154984"/>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A population refers to the entire set of individuals, objects, or data points that you want to study. It can be large or small depending on the scope of your research.</a:t>
            </a:r>
          </a:p>
          <a:p>
            <a:pPr algn="just"/>
            <a:endParaRPr lang="en-US" sz="2400" dirty="0">
              <a:latin typeface="Open Sans" pitchFamily="2" charset="0"/>
              <a:ea typeface="Open Sans" pitchFamily="2" charset="0"/>
              <a:cs typeface="Open Sans" pitchFamily="2" charset="0"/>
            </a:endParaRPr>
          </a:p>
          <a:p>
            <a:pPr marL="742950" lvl="1" indent="-285750" algn="just"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For example</a:t>
            </a:r>
            <a:r>
              <a:rPr lang="en-US" sz="2400" dirty="0">
                <a:latin typeface="Open Sans" pitchFamily="2" charset="0"/>
                <a:ea typeface="Open Sans" pitchFamily="2" charset="0"/>
                <a:cs typeface="Open Sans" pitchFamily="2" charset="0"/>
              </a:rPr>
              <a:t>, all students in a school or all people in a country.</a:t>
            </a:r>
          </a:p>
          <a:p>
            <a:pPr marL="742950" lvl="1" indent="-285750" algn="just" fontAlgn="base">
              <a:buFont typeface="Arial" panose="020B0604020202020204" pitchFamily="34" charset="0"/>
              <a:buChar char="•"/>
            </a:pPr>
            <a:r>
              <a:rPr lang="en-US" sz="2400" dirty="0">
                <a:latin typeface="Open Sans" pitchFamily="2" charset="0"/>
                <a:ea typeface="Open Sans" pitchFamily="2" charset="0"/>
                <a:cs typeface="Open Sans" pitchFamily="2" charset="0"/>
              </a:rPr>
              <a:t>It provides a complete picture and is usually denoted by </a:t>
            </a:r>
            <a:r>
              <a:rPr lang="en-US" sz="2400" b="1" dirty="0">
                <a:latin typeface="Open Sans" pitchFamily="2" charset="0"/>
                <a:ea typeface="Open Sans" pitchFamily="2" charset="0"/>
                <a:cs typeface="Open Sans" pitchFamily="2" charset="0"/>
              </a:rPr>
              <a:t>N</a:t>
            </a:r>
            <a:r>
              <a:rPr lang="en-US" sz="2400" dirty="0">
                <a:latin typeface="Open Sans" pitchFamily="2" charset="0"/>
                <a:ea typeface="Open Sans" pitchFamily="2" charset="0"/>
                <a:cs typeface="Open Sans" pitchFamily="2" charset="0"/>
              </a:rPr>
              <a:t>.</a:t>
            </a:r>
          </a:p>
          <a:p>
            <a:pPr algn="just"/>
            <a:endParaRPr lang="en-US" sz="2400" dirty="0">
              <a:latin typeface="Open Sans" pitchFamily="2" charset="0"/>
              <a:ea typeface="Open Sans" pitchFamily="2" charset="0"/>
              <a:cs typeface="Open Sans" pitchFamily="2" charset="0"/>
            </a:endParaRPr>
          </a:p>
          <a:p>
            <a:pPr algn="just"/>
            <a:r>
              <a:rPr lang="en-US" sz="2400" dirty="0">
                <a:latin typeface="Open Sans" pitchFamily="2" charset="0"/>
                <a:ea typeface="Open Sans" pitchFamily="2" charset="0"/>
                <a:cs typeface="Open Sans" pitchFamily="2" charset="0"/>
              </a:rPr>
              <a:t>Population Characteristics are mean(), Standard deviation(), Proportion(P), Median, Percentiles and so on. </a:t>
            </a:r>
          </a:p>
        </p:txBody>
      </p:sp>
    </p:spTree>
    <p:extLst>
      <p:ext uri="{BB962C8B-B14F-4D97-AF65-F5344CB8AC3E}">
        <p14:creationId xmlns:p14="http://schemas.microsoft.com/office/powerpoint/2010/main" val="90290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279B6-BC14-4FE5-4363-22514799D0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334E6E-8151-F0A7-A3A4-1B20D948EF6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Sample Data</a:t>
            </a:r>
          </a:p>
        </p:txBody>
      </p:sp>
      <p:sp>
        <p:nvSpPr>
          <p:cNvPr id="7" name="TextBox 6">
            <a:extLst>
              <a:ext uri="{FF2B5EF4-FFF2-40B4-BE49-F238E27FC236}">
                <a16:creationId xmlns:a16="http://schemas.microsoft.com/office/drawing/2014/main" id="{0FB488C1-6C8C-EE40-A509-749094DA0F10}"/>
              </a:ext>
            </a:extLst>
          </p:cNvPr>
          <p:cNvSpPr txBox="1"/>
          <p:nvPr/>
        </p:nvSpPr>
        <p:spPr>
          <a:xfrm>
            <a:off x="1597742" y="1049454"/>
            <a:ext cx="8996516" cy="3785652"/>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A sample is a subset of the population that is selected for analysis. It's used when studying the entire population is impractical or impossible. Sampling allows for inferences about the population using statistical techniques.</a:t>
            </a:r>
          </a:p>
          <a:p>
            <a:pPr algn="just"/>
            <a:endParaRPr lang="en-US" sz="2400" dirty="0">
              <a:latin typeface="Open Sans" pitchFamily="2" charset="0"/>
              <a:ea typeface="Open Sans" pitchFamily="2" charset="0"/>
              <a:cs typeface="Open Sans" pitchFamily="2" charset="0"/>
            </a:endParaRPr>
          </a:p>
          <a:p>
            <a:pPr marL="742950" lvl="1" indent="-28575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For example</a:t>
            </a:r>
            <a:r>
              <a:rPr lang="en-US" sz="2400" dirty="0">
                <a:latin typeface="Open Sans" pitchFamily="2" charset="0"/>
                <a:ea typeface="Open Sans" pitchFamily="2" charset="0"/>
                <a:cs typeface="Open Sans" pitchFamily="2" charset="0"/>
              </a:rPr>
              <a:t>, if the population is all students in a school, a sample could be </a:t>
            </a:r>
            <a:r>
              <a:rPr lang="en-US" sz="2400" b="1" dirty="0">
                <a:latin typeface="Open Sans" pitchFamily="2" charset="0"/>
                <a:ea typeface="Open Sans" pitchFamily="2" charset="0"/>
                <a:cs typeface="Open Sans" pitchFamily="2" charset="0"/>
              </a:rPr>
              <a:t>50 students randomly chosen from different classes</a:t>
            </a:r>
            <a:r>
              <a:rPr lang="en-US" sz="2400" dirty="0">
                <a:latin typeface="Open Sans" pitchFamily="2" charset="0"/>
                <a:ea typeface="Open Sans" pitchFamily="2" charset="0"/>
                <a:cs typeface="Open Sans" pitchFamily="2" charset="0"/>
              </a:rPr>
              <a:t> to participate in a survey.</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It offers an estimate and is denoted by </a:t>
            </a:r>
            <a:r>
              <a:rPr lang="en-US" sz="2400" b="1" dirty="0">
                <a:latin typeface="Open Sans" pitchFamily="2" charset="0"/>
                <a:ea typeface="Open Sans" pitchFamily="2" charset="0"/>
                <a:cs typeface="Open Sans" pitchFamily="2" charset="0"/>
              </a:rPr>
              <a:t>n</a:t>
            </a:r>
            <a:r>
              <a:rPr lang="en-US" sz="2400" dirty="0">
                <a:latin typeface="Open Sans" pitchFamily="2" charset="0"/>
                <a:ea typeface="Open Sans" pitchFamily="2" charset="0"/>
                <a:cs typeface="Open Sans" pitchFamily="2" charset="0"/>
              </a:rPr>
              <a:t>.</a:t>
            </a:r>
          </a:p>
        </p:txBody>
      </p:sp>
      <p:sp>
        <p:nvSpPr>
          <p:cNvPr id="2" name="TextBox 1">
            <a:extLst>
              <a:ext uri="{FF2B5EF4-FFF2-40B4-BE49-F238E27FC236}">
                <a16:creationId xmlns:a16="http://schemas.microsoft.com/office/drawing/2014/main" id="{B7574B27-4E41-B74A-316B-6FF0ADB08DF4}"/>
              </a:ext>
            </a:extLst>
          </p:cNvPr>
          <p:cNvSpPr txBox="1"/>
          <p:nvPr/>
        </p:nvSpPr>
        <p:spPr>
          <a:xfrm>
            <a:off x="1597742" y="4973605"/>
            <a:ext cx="8996516"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n-US" sz="2000" b="1" i="1" dirty="0">
                <a:latin typeface="Open Sans" pitchFamily="2" charset="0"/>
                <a:ea typeface="Open Sans" pitchFamily="2" charset="0"/>
                <a:cs typeface="Open Sans" pitchFamily="2" charset="0"/>
              </a:rPr>
              <a:t>Parameters</a:t>
            </a:r>
            <a:r>
              <a:rPr lang="en-US" sz="2000" i="1" dirty="0">
                <a:latin typeface="Open Sans" pitchFamily="2" charset="0"/>
                <a:ea typeface="Open Sans" pitchFamily="2" charset="0"/>
                <a:cs typeface="Open Sans" pitchFamily="2" charset="0"/>
              </a:rPr>
              <a:t> (like population mean) describe the population, while </a:t>
            </a:r>
            <a:r>
              <a:rPr lang="en-US" sz="2000" b="1" i="1" dirty="0">
                <a:latin typeface="Open Sans" pitchFamily="2" charset="0"/>
                <a:ea typeface="Open Sans" pitchFamily="2" charset="0"/>
                <a:cs typeface="Open Sans" pitchFamily="2" charset="0"/>
              </a:rPr>
              <a:t>statistics</a:t>
            </a:r>
            <a:r>
              <a:rPr lang="en-US" sz="2000" i="1" dirty="0">
                <a:latin typeface="Open Sans" pitchFamily="2" charset="0"/>
                <a:ea typeface="Open Sans" pitchFamily="2" charset="0"/>
                <a:cs typeface="Open Sans" pitchFamily="2" charset="0"/>
              </a:rPr>
              <a:t> (like sample mean) describe the sample. Sampling enables us to make inferences about the population using statistical techniques.</a:t>
            </a:r>
            <a:endParaRPr lang="en-US" sz="20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260702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7BD7-7D50-4544-20ED-A93A98BABD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E8CB03-0FAF-E432-4D90-0ABC985D23D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Population vS Sample</a:t>
            </a:r>
          </a:p>
        </p:txBody>
      </p:sp>
      <p:pic>
        <p:nvPicPr>
          <p:cNvPr id="2050" name="Picture 2" descr="Population vs Sample in Statistics - GeeksforGeeks">
            <a:extLst>
              <a:ext uri="{FF2B5EF4-FFF2-40B4-BE49-F238E27FC236}">
                <a16:creationId xmlns:a16="http://schemas.microsoft.com/office/drawing/2014/main" id="{08D74231-BF07-4CE4-4412-23F33934E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047750"/>
            <a:ext cx="5726867" cy="28634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relationship between sample and population | by Anderson Gimino | Medium">
            <a:extLst>
              <a:ext uri="{FF2B5EF4-FFF2-40B4-BE49-F238E27FC236}">
                <a16:creationId xmlns:a16="http://schemas.microsoft.com/office/drawing/2014/main" id="{F4C5E896-2D1C-F9F7-38D4-CEC306A8A7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3875" y="3429000"/>
            <a:ext cx="6939733" cy="262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600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E01D-3B9E-1DF1-9B78-9CE00E4AAC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E7EB52-E3B2-9CE6-A70E-21068445FA5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Types of Data Based on Nature or Type of Values</a:t>
            </a:r>
          </a:p>
        </p:txBody>
      </p:sp>
      <p:sp>
        <p:nvSpPr>
          <p:cNvPr id="7" name="TextBox 6">
            <a:extLst>
              <a:ext uri="{FF2B5EF4-FFF2-40B4-BE49-F238E27FC236}">
                <a16:creationId xmlns:a16="http://schemas.microsoft.com/office/drawing/2014/main" id="{6C562949-D6D1-947F-9931-9E84352C20C6}"/>
              </a:ext>
            </a:extLst>
          </p:cNvPr>
          <p:cNvSpPr txBox="1"/>
          <p:nvPr/>
        </p:nvSpPr>
        <p:spPr>
          <a:xfrm>
            <a:off x="1597742" y="1049454"/>
            <a:ext cx="8996516" cy="3785652"/>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Data can be categorized in different ways depending on how it is collected, stored and represented. Broadly, it falls into the following types:</a:t>
            </a:r>
          </a:p>
          <a:p>
            <a:endParaRPr lang="en-US" sz="2400" dirty="0">
              <a:latin typeface="Open Sans" pitchFamily="2" charset="0"/>
              <a:ea typeface="Open Sans" pitchFamily="2" charset="0"/>
              <a:cs typeface="Open Sans" pitchFamily="2" charset="0"/>
            </a:endParaRPr>
          </a:p>
          <a:p>
            <a:pPr marL="457200" indent="-457200" algn="just">
              <a:buFont typeface="+mj-lt"/>
              <a:buAutoNum type="arabicPeriod"/>
            </a:pPr>
            <a:r>
              <a:rPr lang="en-US" sz="2400" dirty="0">
                <a:latin typeface="Open Sans" pitchFamily="2" charset="0"/>
                <a:ea typeface="Open Sans" pitchFamily="2" charset="0"/>
                <a:cs typeface="Open Sans" pitchFamily="2" charset="0"/>
              </a:rPr>
              <a:t>Quantitative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Qualitative Date</a:t>
            </a:r>
          </a:p>
          <a:p>
            <a:pPr marL="457200" indent="-457200" algn="just">
              <a:buFont typeface="+mj-lt"/>
              <a:buAutoNum type="arabicPeriod"/>
            </a:pPr>
            <a:r>
              <a:rPr lang="en-US" sz="2400" dirty="0">
                <a:latin typeface="Open Sans" pitchFamily="2" charset="0"/>
                <a:ea typeface="Open Sans" pitchFamily="2" charset="0"/>
                <a:cs typeface="Open Sans" pitchFamily="2" charset="0"/>
              </a:rPr>
              <a:t>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Unstructured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Semi-Structured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Big Data</a:t>
            </a:r>
          </a:p>
        </p:txBody>
      </p:sp>
    </p:spTree>
    <p:extLst>
      <p:ext uri="{BB962C8B-B14F-4D97-AF65-F5344CB8AC3E}">
        <p14:creationId xmlns:p14="http://schemas.microsoft.com/office/powerpoint/2010/main" val="3735424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9E12-727E-B3B1-F5B8-65DDB0556E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2B4776-4F99-DA2D-AC0E-1BCF1AE6580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Quantitative (Numerical) data</a:t>
            </a:r>
          </a:p>
        </p:txBody>
      </p:sp>
      <p:sp>
        <p:nvSpPr>
          <p:cNvPr id="7" name="TextBox 6">
            <a:extLst>
              <a:ext uri="{FF2B5EF4-FFF2-40B4-BE49-F238E27FC236}">
                <a16:creationId xmlns:a16="http://schemas.microsoft.com/office/drawing/2014/main" id="{42A8FF05-1853-9532-017D-DBD00C6CE291}"/>
              </a:ext>
            </a:extLst>
          </p:cNvPr>
          <p:cNvSpPr txBox="1"/>
          <p:nvPr/>
        </p:nvSpPr>
        <p:spPr>
          <a:xfrm>
            <a:off x="1597742" y="1049454"/>
            <a:ext cx="8996516" cy="4893647"/>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Quantitative data is information that can be measured, counted and expressed in numerical form. It provides objective values that can be analyzed statistically to identify patterns, trends and relationships.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Represents numbers and measurable values.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Can be divided into: Discrete data (Whole numbers) and Continuous data (Values on a scale).</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Widely used in research, finance, engineering and business analytic</a:t>
            </a:r>
          </a:p>
          <a:p>
            <a:pPr lvl="1" fontAlgn="base"/>
            <a:endParaRPr lang="en-US" sz="2400" dirty="0">
              <a:latin typeface="Open Sans" pitchFamily="2" charset="0"/>
              <a:ea typeface="Open Sans" pitchFamily="2" charset="0"/>
              <a:cs typeface="Open Sans" pitchFamily="2" charset="0"/>
            </a:endParaRPr>
          </a:p>
          <a:p>
            <a:pPr algn="just"/>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Age of people = 25, number of customers visiting a store = 100, temperature readings = 32.5°C, </a:t>
            </a:r>
          </a:p>
          <a:p>
            <a:pPr algn="just"/>
            <a:r>
              <a:rPr lang="en-US" sz="2400" dirty="0">
                <a:latin typeface="Open Sans" pitchFamily="2" charset="0"/>
                <a:ea typeface="Open Sans" pitchFamily="2" charset="0"/>
                <a:cs typeface="Open Sans" pitchFamily="2" charset="0"/>
              </a:rPr>
              <a:t>sales revenue = 5000 TK</a:t>
            </a:r>
          </a:p>
        </p:txBody>
      </p:sp>
    </p:spTree>
    <p:extLst>
      <p:ext uri="{BB962C8B-B14F-4D97-AF65-F5344CB8AC3E}">
        <p14:creationId xmlns:p14="http://schemas.microsoft.com/office/powerpoint/2010/main" val="1548856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A799-D006-E6FB-9692-8EE799836D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2857F5-8634-016A-9B2D-42C87127D7FF}"/>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subtype of Quantitative data</a:t>
            </a:r>
          </a:p>
        </p:txBody>
      </p:sp>
      <p:graphicFrame>
        <p:nvGraphicFramePr>
          <p:cNvPr id="2" name="Table 1">
            <a:extLst>
              <a:ext uri="{FF2B5EF4-FFF2-40B4-BE49-F238E27FC236}">
                <a16:creationId xmlns:a16="http://schemas.microsoft.com/office/drawing/2014/main" id="{5409EE51-CB0D-A1A2-16B0-186B7A0BDC4F}"/>
              </a:ext>
            </a:extLst>
          </p:cNvPr>
          <p:cNvGraphicFramePr>
            <a:graphicFrameLocks noGrp="1"/>
          </p:cNvGraphicFramePr>
          <p:nvPr>
            <p:extLst>
              <p:ext uri="{D42A27DB-BD31-4B8C-83A1-F6EECF244321}">
                <p14:modId xmlns:p14="http://schemas.microsoft.com/office/powerpoint/2010/main" val="925338445"/>
              </p:ext>
            </p:extLst>
          </p:nvPr>
        </p:nvGraphicFramePr>
        <p:xfrm>
          <a:off x="1597742" y="1049454"/>
          <a:ext cx="8996517" cy="2847293"/>
        </p:xfrm>
        <a:graphic>
          <a:graphicData uri="http://schemas.openxmlformats.org/drawingml/2006/table">
            <a:tbl>
              <a:tblPr firstRow="1" bandRow="1">
                <a:tableStyleId>{5C22544A-7EE6-4342-B048-85BDC9FD1C3A}</a:tableStyleId>
              </a:tblPr>
              <a:tblGrid>
                <a:gridCol w="2998839">
                  <a:extLst>
                    <a:ext uri="{9D8B030D-6E8A-4147-A177-3AD203B41FA5}">
                      <a16:colId xmlns:a16="http://schemas.microsoft.com/office/drawing/2014/main" val="3551926827"/>
                    </a:ext>
                  </a:extLst>
                </a:gridCol>
                <a:gridCol w="2998839">
                  <a:extLst>
                    <a:ext uri="{9D8B030D-6E8A-4147-A177-3AD203B41FA5}">
                      <a16:colId xmlns:a16="http://schemas.microsoft.com/office/drawing/2014/main" val="3650544135"/>
                    </a:ext>
                  </a:extLst>
                </a:gridCol>
                <a:gridCol w="2998839">
                  <a:extLst>
                    <a:ext uri="{9D8B030D-6E8A-4147-A177-3AD203B41FA5}">
                      <a16:colId xmlns:a16="http://schemas.microsoft.com/office/drawing/2014/main" val="3169035608"/>
                    </a:ext>
                  </a:extLst>
                </a:gridCol>
              </a:tblGrid>
              <a:tr h="469853">
                <a:tc>
                  <a:txBody>
                    <a:bodyPr/>
                    <a:lstStyle/>
                    <a:p>
                      <a:pPr>
                        <a:buNone/>
                      </a:pPr>
                      <a:r>
                        <a:rPr lang="en-US" sz="2400" dirty="0">
                          <a:latin typeface="Open Sans" pitchFamily="2" charset="0"/>
                          <a:ea typeface="Open Sans" pitchFamily="2" charset="0"/>
                          <a:cs typeface="Open Sans" pitchFamily="2" charset="0"/>
                        </a:rPr>
                        <a:t>Subtype</a:t>
                      </a:r>
                    </a:p>
                  </a:txBody>
                  <a:tcPr anchor="ctr"/>
                </a:tc>
                <a:tc>
                  <a:txBody>
                    <a:bodyPr/>
                    <a:lstStyle/>
                    <a:p>
                      <a:pPr>
                        <a:buNone/>
                      </a:pPr>
                      <a:r>
                        <a:rPr lang="en-US" sz="2400" dirty="0">
                          <a:latin typeface="Open Sans" pitchFamily="2" charset="0"/>
                          <a:ea typeface="Open Sans" pitchFamily="2" charset="0"/>
                          <a:cs typeface="Open Sans" pitchFamily="2" charset="0"/>
                        </a:rPr>
                        <a:t>Meaning</a:t>
                      </a:r>
                    </a:p>
                  </a:txBody>
                  <a:tcPr anchor="ctr"/>
                </a:tc>
                <a:tc>
                  <a:txBody>
                    <a:bodyPr/>
                    <a:lstStyle/>
                    <a:p>
                      <a:pPr>
                        <a:buNone/>
                      </a:pPr>
                      <a:r>
                        <a:rPr lang="en-US" sz="2400">
                          <a:latin typeface="Open Sans" pitchFamily="2" charset="0"/>
                          <a:ea typeface="Open Sans" pitchFamily="2" charset="0"/>
                          <a:cs typeface="Open Sans" pitchFamily="2" charset="0"/>
                        </a:rPr>
                        <a:t>Example</a:t>
                      </a:r>
                    </a:p>
                  </a:txBody>
                  <a:tcPr anchor="ctr"/>
                </a:tc>
                <a:extLst>
                  <a:ext uri="{0D108BD9-81ED-4DB2-BD59-A6C34878D82A}">
                    <a16:rowId xmlns:a16="http://schemas.microsoft.com/office/drawing/2014/main" val="3709677747"/>
                  </a:ext>
                </a:extLst>
              </a:tr>
              <a:tr h="810979">
                <a:tc>
                  <a:txBody>
                    <a:bodyPr/>
                    <a:lstStyle/>
                    <a:p>
                      <a:pPr>
                        <a:buNone/>
                      </a:pPr>
                      <a:r>
                        <a:rPr lang="en-US" sz="2400" b="1" dirty="0">
                          <a:latin typeface="Open Sans" pitchFamily="2" charset="0"/>
                          <a:ea typeface="Open Sans" pitchFamily="2" charset="0"/>
                          <a:cs typeface="Open Sans" pitchFamily="2" charset="0"/>
                        </a:rPr>
                        <a:t>Discrete Data</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Whole numbers; </a:t>
                      </a:r>
                      <a:r>
                        <a:rPr lang="en-US" sz="2400" b="1">
                          <a:latin typeface="Open Sans" pitchFamily="2" charset="0"/>
                          <a:ea typeface="Open Sans" pitchFamily="2" charset="0"/>
                          <a:cs typeface="Open Sans" pitchFamily="2" charset="0"/>
                        </a:rPr>
                        <a:t>countable</a:t>
                      </a:r>
                      <a:r>
                        <a:rPr lang="en-US" sz="2400">
                          <a:latin typeface="Open Sans" pitchFamily="2" charset="0"/>
                          <a:ea typeface="Open Sans" pitchFamily="2" charset="0"/>
                          <a:cs typeface="Open Sans" pitchFamily="2" charset="0"/>
                        </a:rPr>
                        <a:t> values.</a:t>
                      </a:r>
                    </a:p>
                  </a:txBody>
                  <a:tcPr anchor="ctr"/>
                </a:tc>
                <a:tc>
                  <a:txBody>
                    <a:bodyPr/>
                    <a:lstStyle/>
                    <a:p>
                      <a:pPr>
                        <a:buNone/>
                      </a:pPr>
                      <a:r>
                        <a:rPr lang="en-US" sz="2400">
                          <a:latin typeface="Open Sans" pitchFamily="2" charset="0"/>
                          <a:ea typeface="Open Sans" pitchFamily="2" charset="0"/>
                          <a:cs typeface="Open Sans" pitchFamily="2" charset="0"/>
                        </a:rPr>
                        <a:t>Number of students = 50, Goals scored = 3</a:t>
                      </a:r>
                    </a:p>
                  </a:txBody>
                  <a:tcPr anchor="ctr"/>
                </a:tc>
                <a:extLst>
                  <a:ext uri="{0D108BD9-81ED-4DB2-BD59-A6C34878D82A}">
                    <a16:rowId xmlns:a16="http://schemas.microsoft.com/office/drawing/2014/main" val="2179966101"/>
                  </a:ext>
                </a:extLst>
              </a:tr>
              <a:tr h="810979">
                <a:tc>
                  <a:txBody>
                    <a:bodyPr/>
                    <a:lstStyle/>
                    <a:p>
                      <a:pPr>
                        <a:buNone/>
                      </a:pPr>
                      <a:r>
                        <a:rPr lang="en-US" sz="2400" b="1">
                          <a:latin typeface="Open Sans" pitchFamily="2" charset="0"/>
                          <a:ea typeface="Open Sans" pitchFamily="2" charset="0"/>
                          <a:cs typeface="Open Sans" pitchFamily="2" charset="0"/>
                        </a:rPr>
                        <a:t>Continuous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Can take </a:t>
                      </a:r>
                      <a:r>
                        <a:rPr lang="en-US" sz="2400" b="1">
                          <a:latin typeface="Open Sans" pitchFamily="2" charset="0"/>
                          <a:ea typeface="Open Sans" pitchFamily="2" charset="0"/>
                          <a:cs typeface="Open Sans" pitchFamily="2" charset="0"/>
                        </a:rPr>
                        <a:t>any value</a:t>
                      </a:r>
                      <a:r>
                        <a:rPr lang="en-US" sz="2400">
                          <a:latin typeface="Open Sans" pitchFamily="2" charset="0"/>
                          <a:ea typeface="Open Sans" pitchFamily="2" charset="0"/>
                          <a:cs typeface="Open Sans" pitchFamily="2" charset="0"/>
                        </a:rPr>
                        <a:t> within a range (measured).</a:t>
                      </a:r>
                    </a:p>
                  </a:txBody>
                  <a:tcPr anchor="ctr"/>
                </a:tc>
                <a:tc>
                  <a:txBody>
                    <a:bodyPr/>
                    <a:lstStyle/>
                    <a:p>
                      <a:pPr>
                        <a:buNone/>
                      </a:pPr>
                      <a:r>
                        <a:rPr lang="en-US" sz="2400" dirty="0">
                          <a:latin typeface="Open Sans" pitchFamily="2" charset="0"/>
                          <a:ea typeface="Open Sans" pitchFamily="2" charset="0"/>
                          <a:cs typeface="Open Sans" pitchFamily="2" charset="0"/>
                        </a:rPr>
                        <a:t>Height = 172.5 cm, Temperature = 36.7°C</a:t>
                      </a:r>
                    </a:p>
                  </a:txBody>
                  <a:tcPr anchor="ctr"/>
                </a:tc>
                <a:extLst>
                  <a:ext uri="{0D108BD9-81ED-4DB2-BD59-A6C34878D82A}">
                    <a16:rowId xmlns:a16="http://schemas.microsoft.com/office/drawing/2014/main" val="904312614"/>
                  </a:ext>
                </a:extLst>
              </a:tr>
            </a:tbl>
          </a:graphicData>
        </a:graphic>
      </p:graphicFrame>
    </p:spTree>
    <p:extLst>
      <p:ext uri="{BB962C8B-B14F-4D97-AF65-F5344CB8AC3E}">
        <p14:creationId xmlns:p14="http://schemas.microsoft.com/office/powerpoint/2010/main" val="2519977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C2783-9738-A470-D4A2-EE92F6E1AB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1F1308-D172-0224-E2F3-EECE35054EE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ea typeface="Open Sans" pitchFamily="2" charset="0"/>
                <a:cs typeface="Open Sans" pitchFamily="2" charset="0"/>
              </a:rPr>
              <a:t>Qualitative (categorical) Data</a:t>
            </a:r>
          </a:p>
        </p:txBody>
      </p:sp>
      <p:sp>
        <p:nvSpPr>
          <p:cNvPr id="7" name="TextBox 6">
            <a:extLst>
              <a:ext uri="{FF2B5EF4-FFF2-40B4-BE49-F238E27FC236}">
                <a16:creationId xmlns:a16="http://schemas.microsoft.com/office/drawing/2014/main" id="{2EA7B37C-38AA-CF8A-630C-1786E6F171B6}"/>
              </a:ext>
            </a:extLst>
          </p:cNvPr>
          <p:cNvSpPr txBox="1"/>
          <p:nvPr/>
        </p:nvSpPr>
        <p:spPr>
          <a:xfrm>
            <a:off x="1597742" y="1049454"/>
            <a:ext cx="8996516" cy="4893647"/>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Qualitative data is descriptive, non-numeric information that explains qualities, characteristics or categories rather than quantities. It helps understand opinions, experiences and meanings behind behaviors.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Focuses on qualities, attributes and categories rather than numbers.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Often collected through surveys, interviews or observations.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Useful for understanding opinions, motivations and behaviors.</a:t>
            </a:r>
          </a:p>
          <a:p>
            <a:pPr marL="800100" lvl="1" indent="-34290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Customer feedback (“satisfied”, “unsatisfied”), Gender (Male/Female), Color (Red, Blue, Green)</a:t>
            </a:r>
          </a:p>
        </p:txBody>
      </p:sp>
    </p:spTree>
    <p:extLst>
      <p:ext uri="{BB962C8B-B14F-4D97-AF65-F5344CB8AC3E}">
        <p14:creationId xmlns:p14="http://schemas.microsoft.com/office/powerpoint/2010/main" val="111929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851C-0124-A016-8E19-76A68A2BA9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3A7B8E-C610-DB24-D630-EF57E1F3BEE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ea typeface="Open Sans" pitchFamily="2" charset="0"/>
                <a:cs typeface="Open Sans" pitchFamily="2" charset="0"/>
              </a:rPr>
              <a:t>Subtype of Qualitative Data</a:t>
            </a:r>
          </a:p>
        </p:txBody>
      </p:sp>
      <p:graphicFrame>
        <p:nvGraphicFramePr>
          <p:cNvPr id="2" name="Table 1">
            <a:extLst>
              <a:ext uri="{FF2B5EF4-FFF2-40B4-BE49-F238E27FC236}">
                <a16:creationId xmlns:a16="http://schemas.microsoft.com/office/drawing/2014/main" id="{BEC49F1C-74B3-FB8B-0EFE-7C463F67AD75}"/>
              </a:ext>
            </a:extLst>
          </p:cNvPr>
          <p:cNvGraphicFramePr>
            <a:graphicFrameLocks noGrp="1"/>
          </p:cNvGraphicFramePr>
          <p:nvPr>
            <p:extLst>
              <p:ext uri="{D42A27DB-BD31-4B8C-83A1-F6EECF244321}">
                <p14:modId xmlns:p14="http://schemas.microsoft.com/office/powerpoint/2010/main" val="3284468500"/>
              </p:ext>
            </p:extLst>
          </p:nvPr>
        </p:nvGraphicFramePr>
        <p:xfrm>
          <a:off x="1597742" y="1049454"/>
          <a:ext cx="8996517" cy="3213053"/>
        </p:xfrm>
        <a:graphic>
          <a:graphicData uri="http://schemas.openxmlformats.org/drawingml/2006/table">
            <a:tbl>
              <a:tblPr firstRow="1" bandRow="1">
                <a:tableStyleId>{5C22544A-7EE6-4342-B048-85BDC9FD1C3A}</a:tableStyleId>
              </a:tblPr>
              <a:tblGrid>
                <a:gridCol w="2998839">
                  <a:extLst>
                    <a:ext uri="{9D8B030D-6E8A-4147-A177-3AD203B41FA5}">
                      <a16:colId xmlns:a16="http://schemas.microsoft.com/office/drawing/2014/main" val="3551926827"/>
                    </a:ext>
                  </a:extLst>
                </a:gridCol>
                <a:gridCol w="2998839">
                  <a:extLst>
                    <a:ext uri="{9D8B030D-6E8A-4147-A177-3AD203B41FA5}">
                      <a16:colId xmlns:a16="http://schemas.microsoft.com/office/drawing/2014/main" val="3650544135"/>
                    </a:ext>
                  </a:extLst>
                </a:gridCol>
                <a:gridCol w="2998839">
                  <a:extLst>
                    <a:ext uri="{9D8B030D-6E8A-4147-A177-3AD203B41FA5}">
                      <a16:colId xmlns:a16="http://schemas.microsoft.com/office/drawing/2014/main" val="3169035608"/>
                    </a:ext>
                  </a:extLst>
                </a:gridCol>
              </a:tblGrid>
              <a:tr h="469853">
                <a:tc>
                  <a:txBody>
                    <a:bodyPr/>
                    <a:lstStyle/>
                    <a:p>
                      <a:pPr>
                        <a:buNone/>
                      </a:pPr>
                      <a:r>
                        <a:rPr lang="en-US" sz="2400">
                          <a:latin typeface="Open Sans" pitchFamily="2" charset="0"/>
                          <a:ea typeface="Open Sans" pitchFamily="2" charset="0"/>
                          <a:cs typeface="Open Sans" pitchFamily="2" charset="0"/>
                        </a:rPr>
                        <a:t>Subtype</a:t>
                      </a:r>
                    </a:p>
                  </a:txBody>
                  <a:tcPr anchor="ctr"/>
                </a:tc>
                <a:tc>
                  <a:txBody>
                    <a:bodyPr/>
                    <a:lstStyle/>
                    <a:p>
                      <a:pPr>
                        <a:buNone/>
                      </a:pPr>
                      <a:r>
                        <a:rPr lang="en-US" sz="2400">
                          <a:latin typeface="Open Sans" pitchFamily="2" charset="0"/>
                          <a:ea typeface="Open Sans" pitchFamily="2" charset="0"/>
                          <a:cs typeface="Open Sans" pitchFamily="2" charset="0"/>
                        </a:rPr>
                        <a:t>Meaning</a:t>
                      </a:r>
                    </a:p>
                  </a:txBody>
                  <a:tcPr anchor="ctr"/>
                </a:tc>
                <a:tc>
                  <a:txBody>
                    <a:bodyPr/>
                    <a:lstStyle/>
                    <a:p>
                      <a:pPr>
                        <a:buNone/>
                      </a:pPr>
                      <a:r>
                        <a:rPr lang="en-US" sz="2400">
                          <a:latin typeface="Open Sans" pitchFamily="2" charset="0"/>
                          <a:ea typeface="Open Sans" pitchFamily="2" charset="0"/>
                          <a:cs typeface="Open Sans" pitchFamily="2" charset="0"/>
                        </a:rPr>
                        <a:t>Example</a:t>
                      </a:r>
                    </a:p>
                  </a:txBody>
                  <a:tcPr anchor="ctr"/>
                </a:tc>
                <a:extLst>
                  <a:ext uri="{0D108BD9-81ED-4DB2-BD59-A6C34878D82A}">
                    <a16:rowId xmlns:a16="http://schemas.microsoft.com/office/drawing/2014/main" val="3709677747"/>
                  </a:ext>
                </a:extLst>
              </a:tr>
              <a:tr h="810979">
                <a:tc>
                  <a:txBody>
                    <a:bodyPr/>
                    <a:lstStyle/>
                    <a:p>
                      <a:pPr>
                        <a:buNone/>
                      </a:pPr>
                      <a:r>
                        <a:rPr lang="en-US" sz="2400" b="1">
                          <a:latin typeface="Open Sans" pitchFamily="2" charset="0"/>
                          <a:ea typeface="Open Sans" pitchFamily="2" charset="0"/>
                          <a:cs typeface="Open Sans" pitchFamily="2" charset="0"/>
                        </a:rPr>
                        <a:t>Nominal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Categories with </a:t>
                      </a:r>
                      <a:r>
                        <a:rPr lang="en-US" sz="2400" b="1">
                          <a:latin typeface="Open Sans" pitchFamily="2" charset="0"/>
                          <a:ea typeface="Open Sans" pitchFamily="2" charset="0"/>
                          <a:cs typeface="Open Sans" pitchFamily="2" charset="0"/>
                        </a:rPr>
                        <a:t>no order</a:t>
                      </a:r>
                      <a:r>
                        <a:rPr lang="en-US" sz="2400">
                          <a:latin typeface="Open Sans" pitchFamily="2" charset="0"/>
                          <a:ea typeface="Open Sans" pitchFamily="2" charset="0"/>
                          <a:cs typeface="Open Sans" pitchFamily="2" charset="0"/>
                        </a:rPr>
                        <a:t>.</a:t>
                      </a:r>
                    </a:p>
                  </a:txBody>
                  <a:tcPr anchor="ctr"/>
                </a:tc>
                <a:tc>
                  <a:txBody>
                    <a:bodyPr/>
                    <a:lstStyle/>
                    <a:p>
                      <a:pPr>
                        <a:buNone/>
                      </a:pPr>
                      <a:r>
                        <a:rPr lang="en-US" sz="2400">
                          <a:latin typeface="Open Sans" pitchFamily="2" charset="0"/>
                          <a:ea typeface="Open Sans" pitchFamily="2" charset="0"/>
                          <a:cs typeface="Open Sans" pitchFamily="2" charset="0"/>
                        </a:rPr>
                        <a:t>Gender = Male/Female, Color = Red/Blue/Green</a:t>
                      </a:r>
                    </a:p>
                  </a:txBody>
                  <a:tcPr anchor="ctr"/>
                </a:tc>
                <a:extLst>
                  <a:ext uri="{0D108BD9-81ED-4DB2-BD59-A6C34878D82A}">
                    <a16:rowId xmlns:a16="http://schemas.microsoft.com/office/drawing/2014/main" val="2179966101"/>
                  </a:ext>
                </a:extLst>
              </a:tr>
              <a:tr h="810979">
                <a:tc>
                  <a:txBody>
                    <a:bodyPr/>
                    <a:lstStyle/>
                    <a:p>
                      <a:pPr>
                        <a:buNone/>
                      </a:pPr>
                      <a:r>
                        <a:rPr lang="en-US" sz="2400" b="1">
                          <a:latin typeface="Open Sans" pitchFamily="2" charset="0"/>
                          <a:ea typeface="Open Sans" pitchFamily="2" charset="0"/>
                          <a:cs typeface="Open Sans" pitchFamily="2" charset="0"/>
                        </a:rPr>
                        <a:t>Ordinal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Categories with a </a:t>
                      </a:r>
                      <a:r>
                        <a:rPr lang="en-US" sz="2400" b="1">
                          <a:latin typeface="Open Sans" pitchFamily="2" charset="0"/>
                          <a:ea typeface="Open Sans" pitchFamily="2" charset="0"/>
                          <a:cs typeface="Open Sans" pitchFamily="2" charset="0"/>
                        </a:rPr>
                        <a:t>natural order</a:t>
                      </a:r>
                      <a:r>
                        <a:rPr lang="en-US" sz="2400">
                          <a:latin typeface="Open Sans" pitchFamily="2" charset="0"/>
                          <a:ea typeface="Open Sans" pitchFamily="2" charset="0"/>
                          <a:cs typeface="Open Sans" pitchFamily="2" charset="0"/>
                        </a:rPr>
                        <a:t> or ranking.</a:t>
                      </a:r>
                    </a:p>
                  </a:txBody>
                  <a:tcPr anchor="ctr"/>
                </a:tc>
                <a:tc>
                  <a:txBody>
                    <a:bodyPr/>
                    <a:lstStyle/>
                    <a:p>
                      <a:pPr>
                        <a:buNone/>
                      </a:pPr>
                      <a:r>
                        <a:rPr lang="en-US" sz="2400" dirty="0">
                          <a:latin typeface="Open Sans" pitchFamily="2" charset="0"/>
                          <a:ea typeface="Open Sans" pitchFamily="2" charset="0"/>
                          <a:cs typeface="Open Sans" pitchFamily="2" charset="0"/>
                        </a:rPr>
                        <a:t>Size = Small &lt; Medium &lt; Large, Rating = Good &lt; Better &lt; Best</a:t>
                      </a:r>
                    </a:p>
                  </a:txBody>
                  <a:tcPr anchor="ctr"/>
                </a:tc>
                <a:extLst>
                  <a:ext uri="{0D108BD9-81ED-4DB2-BD59-A6C34878D82A}">
                    <a16:rowId xmlns:a16="http://schemas.microsoft.com/office/drawing/2014/main" val="904312614"/>
                  </a:ext>
                </a:extLst>
              </a:tr>
            </a:tbl>
          </a:graphicData>
        </a:graphic>
      </p:graphicFrame>
    </p:spTree>
    <p:extLst>
      <p:ext uri="{BB962C8B-B14F-4D97-AF65-F5344CB8AC3E}">
        <p14:creationId xmlns:p14="http://schemas.microsoft.com/office/powerpoint/2010/main" val="3280062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B00BF-AD3E-84DB-6ADA-2E45BB5D9F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E99E87-DCDD-3A74-C6CB-88ABFB5643B7}"/>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Structured data</a:t>
            </a:r>
          </a:p>
        </p:txBody>
      </p:sp>
      <p:sp>
        <p:nvSpPr>
          <p:cNvPr id="7" name="TextBox 6">
            <a:extLst>
              <a:ext uri="{FF2B5EF4-FFF2-40B4-BE49-F238E27FC236}">
                <a16:creationId xmlns:a16="http://schemas.microsoft.com/office/drawing/2014/main" id="{2C3AB8C3-720E-846D-BED4-8E653DC49435}"/>
              </a:ext>
            </a:extLst>
          </p:cNvPr>
          <p:cNvSpPr txBox="1"/>
          <p:nvPr/>
        </p:nvSpPr>
        <p:spPr>
          <a:xfrm>
            <a:off x="1597742" y="1049454"/>
            <a:ext cx="8996516" cy="3416320"/>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Structured data is information organized into a predefined format (rows and columns) that makes it easily searchable and manageable by traditional databases.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Stored in relational databases or spreadsheets.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Easy to process with SQL and other tools.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Best suited for tasks requiring accuracy and consistency.</a:t>
            </a:r>
          </a:p>
          <a:p>
            <a:pPr marL="742950" lvl="1" indent="-28575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Bank transactions, employee records, product inventories.</a:t>
            </a:r>
          </a:p>
        </p:txBody>
      </p:sp>
    </p:spTree>
    <p:extLst>
      <p:ext uri="{BB962C8B-B14F-4D97-AF65-F5344CB8AC3E}">
        <p14:creationId xmlns:p14="http://schemas.microsoft.com/office/powerpoint/2010/main" val="1395522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EC38B-D027-2138-0C27-9323398FAC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47CE0F-D78C-820E-E18D-4D77C972FCB2}"/>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Unstructured data</a:t>
            </a:r>
          </a:p>
        </p:txBody>
      </p:sp>
      <p:sp>
        <p:nvSpPr>
          <p:cNvPr id="7" name="TextBox 6">
            <a:extLst>
              <a:ext uri="{FF2B5EF4-FFF2-40B4-BE49-F238E27FC236}">
                <a16:creationId xmlns:a16="http://schemas.microsoft.com/office/drawing/2014/main" id="{610D95CA-92C6-FAD6-1CE7-E397955C6F6B}"/>
              </a:ext>
            </a:extLst>
          </p:cNvPr>
          <p:cNvSpPr txBox="1"/>
          <p:nvPr/>
        </p:nvSpPr>
        <p:spPr>
          <a:xfrm>
            <a:off x="1597742" y="1049454"/>
            <a:ext cx="8996516" cy="4154984"/>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Unstructured data is raw information that does not follow a predefined structure or format making it harder to organize and analyze with conventional tools.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Accounts for over 80% of data generated globally.</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Requires advanced tools (AI, NLP, computer vision) to extract insights.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Common in social media, multimedia and IoT applications.</a:t>
            </a:r>
          </a:p>
          <a:p>
            <a:pPr marL="742950" lvl="1" indent="-28575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Emails, images, videos, voice recordings, PDF documents.</a:t>
            </a:r>
          </a:p>
        </p:txBody>
      </p:sp>
    </p:spTree>
    <p:extLst>
      <p:ext uri="{BB962C8B-B14F-4D97-AF65-F5344CB8AC3E}">
        <p14:creationId xmlns:p14="http://schemas.microsoft.com/office/powerpoint/2010/main" val="300115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31E59-2417-B798-3E9B-D3E7C3AA2D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2E6333-88D2-8502-B396-87B5F626934C}"/>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Semi-structured data</a:t>
            </a:r>
          </a:p>
        </p:txBody>
      </p:sp>
      <p:sp>
        <p:nvSpPr>
          <p:cNvPr id="7" name="TextBox 6">
            <a:extLst>
              <a:ext uri="{FF2B5EF4-FFF2-40B4-BE49-F238E27FC236}">
                <a16:creationId xmlns:a16="http://schemas.microsoft.com/office/drawing/2014/main" id="{580BB5A9-AC1E-6DA6-000D-192870B7C76C}"/>
              </a:ext>
            </a:extLst>
          </p:cNvPr>
          <p:cNvSpPr txBox="1"/>
          <p:nvPr/>
        </p:nvSpPr>
        <p:spPr>
          <a:xfrm>
            <a:off x="1597742" y="1049454"/>
            <a:ext cx="8996516" cy="4154984"/>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Semi-structured data combines aspects of structured and unstructured data. It does not reside in traditional tables but still contains tags or markers that provide a loose structure.</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Provides a balance between flexibility and structure.</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Easier to analyze than unstructured data, but less rigid than structured data.</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Often used in web applications, IoT devices and log systems.</a:t>
            </a:r>
          </a:p>
          <a:p>
            <a:pPr fontAlgn="base"/>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JSON files, XML documents, NoSQL databases, sensor logs.</a:t>
            </a:r>
          </a:p>
        </p:txBody>
      </p:sp>
    </p:spTree>
    <p:extLst>
      <p:ext uri="{BB962C8B-B14F-4D97-AF65-F5344CB8AC3E}">
        <p14:creationId xmlns:p14="http://schemas.microsoft.com/office/powerpoint/2010/main" val="234464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5136-9275-1CB3-40FA-3D146657A4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AB476F-6F86-5CD0-B9D8-9214C8D3A969}"/>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Big data</a:t>
            </a:r>
          </a:p>
        </p:txBody>
      </p:sp>
      <p:sp>
        <p:nvSpPr>
          <p:cNvPr id="7" name="TextBox 6">
            <a:extLst>
              <a:ext uri="{FF2B5EF4-FFF2-40B4-BE49-F238E27FC236}">
                <a16:creationId xmlns:a16="http://schemas.microsoft.com/office/drawing/2014/main" id="{65D10099-703E-5F07-2D04-07BA59EFF8E6}"/>
              </a:ext>
            </a:extLst>
          </p:cNvPr>
          <p:cNvSpPr txBox="1"/>
          <p:nvPr/>
        </p:nvSpPr>
        <p:spPr>
          <a:xfrm>
            <a:off x="1597742" y="1049454"/>
            <a:ext cx="8996516" cy="461665"/>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Body</a:t>
            </a:r>
          </a:p>
        </p:txBody>
      </p:sp>
    </p:spTree>
    <p:extLst>
      <p:ext uri="{BB962C8B-B14F-4D97-AF65-F5344CB8AC3E}">
        <p14:creationId xmlns:p14="http://schemas.microsoft.com/office/powerpoint/2010/main" val="3140052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951D-47F6-5537-C743-E1E50D3C83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BB7E08-0A1B-08C7-120A-B9F0C1495CB6}"/>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Chart of Types of Data </a:t>
            </a:r>
          </a:p>
        </p:txBody>
      </p:sp>
      <p:sp>
        <p:nvSpPr>
          <p:cNvPr id="2" name="Rectangle 1">
            <a:extLst>
              <a:ext uri="{FF2B5EF4-FFF2-40B4-BE49-F238E27FC236}">
                <a16:creationId xmlns:a16="http://schemas.microsoft.com/office/drawing/2014/main" id="{E3005E9C-122D-8E68-86B6-C3A63E321891}"/>
              </a:ext>
            </a:extLst>
          </p:cNvPr>
          <p:cNvSpPr/>
          <p:nvPr/>
        </p:nvSpPr>
        <p:spPr>
          <a:xfrm>
            <a:off x="5706035" y="1291292"/>
            <a:ext cx="779929"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Data</a:t>
            </a:r>
          </a:p>
        </p:txBody>
      </p:sp>
      <p:sp>
        <p:nvSpPr>
          <p:cNvPr id="14" name="Rectangle 13">
            <a:extLst>
              <a:ext uri="{FF2B5EF4-FFF2-40B4-BE49-F238E27FC236}">
                <a16:creationId xmlns:a16="http://schemas.microsoft.com/office/drawing/2014/main" id="{F857F8E1-B3DE-259C-BF9C-8BCA3952214F}"/>
              </a:ext>
            </a:extLst>
          </p:cNvPr>
          <p:cNvSpPr/>
          <p:nvPr/>
        </p:nvSpPr>
        <p:spPr>
          <a:xfrm>
            <a:off x="3235785" y="2178894"/>
            <a:ext cx="1375287" cy="37896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Population</a:t>
            </a:r>
          </a:p>
        </p:txBody>
      </p:sp>
      <p:sp>
        <p:nvSpPr>
          <p:cNvPr id="15" name="Rectangle 14">
            <a:extLst>
              <a:ext uri="{FF2B5EF4-FFF2-40B4-BE49-F238E27FC236}">
                <a16:creationId xmlns:a16="http://schemas.microsoft.com/office/drawing/2014/main" id="{5ED2A5CC-E584-7231-5634-AE9AB263C3EC}"/>
              </a:ext>
            </a:extLst>
          </p:cNvPr>
          <p:cNvSpPr/>
          <p:nvPr/>
        </p:nvSpPr>
        <p:spPr>
          <a:xfrm>
            <a:off x="1597742" y="2178894"/>
            <a:ext cx="1375287" cy="37896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Sample</a:t>
            </a:r>
          </a:p>
        </p:txBody>
      </p:sp>
      <p:sp>
        <p:nvSpPr>
          <p:cNvPr id="37" name="Rectangle 36">
            <a:extLst>
              <a:ext uri="{FF2B5EF4-FFF2-40B4-BE49-F238E27FC236}">
                <a16:creationId xmlns:a16="http://schemas.microsoft.com/office/drawing/2014/main" id="{303DE6AF-937E-0D4F-B2C6-D2F2D0A5BE05}"/>
              </a:ext>
            </a:extLst>
          </p:cNvPr>
          <p:cNvSpPr/>
          <p:nvPr/>
        </p:nvSpPr>
        <p:spPr>
          <a:xfrm>
            <a:off x="1971518" y="3423940"/>
            <a:ext cx="1527355"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Quantitative</a:t>
            </a:r>
          </a:p>
        </p:txBody>
      </p:sp>
      <p:sp>
        <p:nvSpPr>
          <p:cNvPr id="38" name="Rectangle 37">
            <a:extLst>
              <a:ext uri="{FF2B5EF4-FFF2-40B4-BE49-F238E27FC236}">
                <a16:creationId xmlns:a16="http://schemas.microsoft.com/office/drawing/2014/main" id="{1B0E98A1-1300-E448-F746-DBFD0EC07170}"/>
              </a:ext>
            </a:extLst>
          </p:cNvPr>
          <p:cNvSpPr/>
          <p:nvPr/>
        </p:nvSpPr>
        <p:spPr>
          <a:xfrm>
            <a:off x="3754679" y="3423940"/>
            <a:ext cx="1390343"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Qualitative</a:t>
            </a:r>
          </a:p>
        </p:txBody>
      </p:sp>
      <p:sp>
        <p:nvSpPr>
          <p:cNvPr id="39" name="Rectangle 38">
            <a:extLst>
              <a:ext uri="{FF2B5EF4-FFF2-40B4-BE49-F238E27FC236}">
                <a16:creationId xmlns:a16="http://schemas.microsoft.com/office/drawing/2014/main" id="{6A0A3621-D173-CFD3-651B-8760EFF22408}"/>
              </a:ext>
            </a:extLst>
          </p:cNvPr>
          <p:cNvSpPr/>
          <p:nvPr/>
        </p:nvSpPr>
        <p:spPr>
          <a:xfrm>
            <a:off x="5400828" y="3429000"/>
            <a:ext cx="1390343"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Structured</a:t>
            </a:r>
          </a:p>
        </p:txBody>
      </p:sp>
      <p:sp>
        <p:nvSpPr>
          <p:cNvPr id="40" name="Rectangle 39">
            <a:extLst>
              <a:ext uri="{FF2B5EF4-FFF2-40B4-BE49-F238E27FC236}">
                <a16:creationId xmlns:a16="http://schemas.microsoft.com/office/drawing/2014/main" id="{5A0DA08B-CC34-F489-DB4C-20A744071CDF}"/>
              </a:ext>
            </a:extLst>
          </p:cNvPr>
          <p:cNvSpPr/>
          <p:nvPr/>
        </p:nvSpPr>
        <p:spPr>
          <a:xfrm>
            <a:off x="7046977" y="3423940"/>
            <a:ext cx="1665761"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Unstructured</a:t>
            </a:r>
          </a:p>
        </p:txBody>
      </p:sp>
      <p:sp>
        <p:nvSpPr>
          <p:cNvPr id="58" name="TextBox 57">
            <a:extLst>
              <a:ext uri="{FF2B5EF4-FFF2-40B4-BE49-F238E27FC236}">
                <a16:creationId xmlns:a16="http://schemas.microsoft.com/office/drawing/2014/main" id="{A68474B4-38BC-2516-7BDA-938C61E5F067}"/>
              </a:ext>
            </a:extLst>
          </p:cNvPr>
          <p:cNvSpPr txBox="1"/>
          <p:nvPr/>
        </p:nvSpPr>
        <p:spPr>
          <a:xfrm>
            <a:off x="2094043" y="1384936"/>
            <a:ext cx="3509294"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dirty="0">
                <a:latin typeface="Open Sans" pitchFamily="2" charset="0"/>
                <a:ea typeface="Open Sans" pitchFamily="2" charset="0"/>
                <a:cs typeface="Open Sans" pitchFamily="2" charset="0"/>
              </a:rPr>
              <a:t>Data based on source or scope</a:t>
            </a:r>
          </a:p>
        </p:txBody>
      </p:sp>
      <p:sp>
        <p:nvSpPr>
          <p:cNvPr id="59" name="TextBox 58">
            <a:extLst>
              <a:ext uri="{FF2B5EF4-FFF2-40B4-BE49-F238E27FC236}">
                <a16:creationId xmlns:a16="http://schemas.microsoft.com/office/drawing/2014/main" id="{8B03351A-D14B-260F-85FC-E7A084DF20F8}"/>
              </a:ext>
            </a:extLst>
          </p:cNvPr>
          <p:cNvSpPr txBox="1"/>
          <p:nvPr/>
        </p:nvSpPr>
        <p:spPr>
          <a:xfrm>
            <a:off x="6197688" y="2016899"/>
            <a:ext cx="2244182" cy="120032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a:latin typeface="Open Sans" pitchFamily="2" charset="0"/>
                <a:ea typeface="Open Sans" pitchFamily="2" charset="0"/>
                <a:cs typeface="Open Sans" pitchFamily="2" charset="0"/>
              </a:rPr>
              <a:t>Data </a:t>
            </a:r>
            <a:r>
              <a:rPr lang="en-US" dirty="0">
                <a:latin typeface="Open Sans" pitchFamily="2" charset="0"/>
                <a:ea typeface="Open Sans" pitchFamily="2" charset="0"/>
                <a:cs typeface="Open Sans" pitchFamily="2" charset="0"/>
              </a:rPr>
              <a:t>Based on Nature </a:t>
            </a:r>
          </a:p>
          <a:p>
            <a:pPr algn="ctr"/>
            <a:r>
              <a:rPr lang="en-US" dirty="0">
                <a:latin typeface="Open Sans" pitchFamily="2" charset="0"/>
                <a:ea typeface="Open Sans" pitchFamily="2" charset="0"/>
                <a:cs typeface="Open Sans" pitchFamily="2" charset="0"/>
              </a:rPr>
              <a:t>or </a:t>
            </a:r>
          </a:p>
          <a:p>
            <a:pPr algn="ctr"/>
            <a:r>
              <a:rPr lang="en-US" dirty="0">
                <a:latin typeface="Open Sans" pitchFamily="2" charset="0"/>
                <a:ea typeface="Open Sans" pitchFamily="2" charset="0"/>
                <a:cs typeface="Open Sans" pitchFamily="2" charset="0"/>
              </a:rPr>
              <a:t>Type of Values</a:t>
            </a:r>
          </a:p>
        </p:txBody>
      </p:sp>
      <p:sp>
        <p:nvSpPr>
          <p:cNvPr id="65" name="Rectangle 64">
            <a:extLst>
              <a:ext uri="{FF2B5EF4-FFF2-40B4-BE49-F238E27FC236}">
                <a16:creationId xmlns:a16="http://schemas.microsoft.com/office/drawing/2014/main" id="{9A8F96C0-4E21-161E-CC12-8CE7CC7FCC7D}"/>
              </a:ext>
            </a:extLst>
          </p:cNvPr>
          <p:cNvSpPr/>
          <p:nvPr/>
        </p:nvSpPr>
        <p:spPr>
          <a:xfrm>
            <a:off x="8969670" y="3404884"/>
            <a:ext cx="2073305"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Semi-structured</a:t>
            </a:r>
          </a:p>
        </p:txBody>
      </p:sp>
      <p:sp>
        <p:nvSpPr>
          <p:cNvPr id="74" name="Rectangle 73">
            <a:extLst>
              <a:ext uri="{FF2B5EF4-FFF2-40B4-BE49-F238E27FC236}">
                <a16:creationId xmlns:a16="http://schemas.microsoft.com/office/drawing/2014/main" id="{61B59F7D-1E05-9209-7AB4-FE34EEA840AE}"/>
              </a:ext>
            </a:extLst>
          </p:cNvPr>
          <p:cNvSpPr/>
          <p:nvPr/>
        </p:nvSpPr>
        <p:spPr>
          <a:xfrm>
            <a:off x="2225968" y="4024783"/>
            <a:ext cx="1257114"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Discrete</a:t>
            </a:r>
          </a:p>
        </p:txBody>
      </p:sp>
      <p:sp>
        <p:nvSpPr>
          <p:cNvPr id="75" name="Rectangle 74">
            <a:extLst>
              <a:ext uri="{FF2B5EF4-FFF2-40B4-BE49-F238E27FC236}">
                <a16:creationId xmlns:a16="http://schemas.microsoft.com/office/drawing/2014/main" id="{9382DA38-CCBC-8096-E2B1-FDD85A6CA165}"/>
              </a:ext>
            </a:extLst>
          </p:cNvPr>
          <p:cNvSpPr/>
          <p:nvPr/>
        </p:nvSpPr>
        <p:spPr>
          <a:xfrm>
            <a:off x="4074994" y="4526014"/>
            <a:ext cx="1122954"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Ordinary</a:t>
            </a:r>
          </a:p>
        </p:txBody>
      </p:sp>
      <p:sp>
        <p:nvSpPr>
          <p:cNvPr id="81" name="Rectangle 80">
            <a:extLst>
              <a:ext uri="{FF2B5EF4-FFF2-40B4-BE49-F238E27FC236}">
                <a16:creationId xmlns:a16="http://schemas.microsoft.com/office/drawing/2014/main" id="{8F1344A0-B279-EC0F-F68F-72A399B569AB}"/>
              </a:ext>
            </a:extLst>
          </p:cNvPr>
          <p:cNvSpPr/>
          <p:nvPr/>
        </p:nvSpPr>
        <p:spPr>
          <a:xfrm>
            <a:off x="2225967" y="4526014"/>
            <a:ext cx="1257115"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Continuous</a:t>
            </a:r>
            <a:endParaRPr lang="en-US" dirty="0">
              <a:effectLst/>
            </a:endParaRPr>
          </a:p>
        </p:txBody>
      </p:sp>
      <p:sp>
        <p:nvSpPr>
          <p:cNvPr id="82" name="Rectangle 81">
            <a:extLst>
              <a:ext uri="{FF2B5EF4-FFF2-40B4-BE49-F238E27FC236}">
                <a16:creationId xmlns:a16="http://schemas.microsoft.com/office/drawing/2014/main" id="{113EE7E3-0DC9-E6B7-892A-8634D8E332E7}"/>
              </a:ext>
            </a:extLst>
          </p:cNvPr>
          <p:cNvSpPr/>
          <p:nvPr/>
        </p:nvSpPr>
        <p:spPr>
          <a:xfrm>
            <a:off x="4074994" y="4024783"/>
            <a:ext cx="1122955"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Nominal</a:t>
            </a:r>
          </a:p>
        </p:txBody>
      </p:sp>
      <p:cxnSp>
        <p:nvCxnSpPr>
          <p:cNvPr id="106" name="Straight Arrow Connector 105">
            <a:extLst>
              <a:ext uri="{FF2B5EF4-FFF2-40B4-BE49-F238E27FC236}">
                <a16:creationId xmlns:a16="http://schemas.microsoft.com/office/drawing/2014/main" id="{93D2957F-65E1-67F0-E734-E760193AE58F}"/>
              </a:ext>
            </a:extLst>
          </p:cNvPr>
          <p:cNvCxnSpPr>
            <a:cxnSpLocks/>
            <a:stCxn id="2" idx="2"/>
            <a:endCxn id="39" idx="0"/>
          </p:cNvCxnSpPr>
          <p:nvPr/>
        </p:nvCxnSpPr>
        <p:spPr>
          <a:xfrm>
            <a:off x="6096000" y="1660624"/>
            <a:ext cx="0" cy="17683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B93CA3A5-C186-251A-1DD6-529E7F95128E}"/>
              </a:ext>
            </a:extLst>
          </p:cNvPr>
          <p:cNvCxnSpPr>
            <a:cxnSpLocks/>
            <a:endCxn id="15" idx="0"/>
          </p:cNvCxnSpPr>
          <p:nvPr/>
        </p:nvCxnSpPr>
        <p:spPr>
          <a:xfrm rot="10800000" flipV="1">
            <a:off x="2285387" y="1828800"/>
            <a:ext cx="3810613" cy="350094"/>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0EF29D67-083F-158D-214B-A7943B2F1878}"/>
              </a:ext>
            </a:extLst>
          </p:cNvPr>
          <p:cNvCxnSpPr>
            <a:cxnSpLocks/>
            <a:endCxn id="14" idx="0"/>
          </p:cNvCxnSpPr>
          <p:nvPr/>
        </p:nvCxnSpPr>
        <p:spPr>
          <a:xfrm>
            <a:off x="3923429" y="1828800"/>
            <a:ext cx="0" cy="3500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0A9595C2-A7B5-F226-D222-207EDE00BF39}"/>
              </a:ext>
            </a:extLst>
          </p:cNvPr>
          <p:cNvCxnSpPr>
            <a:cxnSpLocks/>
            <a:stCxn id="37" idx="1"/>
            <a:endCxn id="81" idx="1"/>
          </p:cNvCxnSpPr>
          <p:nvPr/>
        </p:nvCxnSpPr>
        <p:spPr>
          <a:xfrm rot="10800000" flipH="1" flipV="1">
            <a:off x="1971517" y="3613421"/>
            <a:ext cx="254449" cy="1102074"/>
          </a:xfrm>
          <a:prstGeom prst="bentConnector3">
            <a:avLst>
              <a:gd name="adj1" fmla="val -31169"/>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4E0427A-94A7-C5BD-829F-A2B2CDF819A1}"/>
              </a:ext>
            </a:extLst>
          </p:cNvPr>
          <p:cNvCxnSpPr>
            <a:cxnSpLocks/>
            <a:endCxn id="82" idx="1"/>
          </p:cNvCxnSpPr>
          <p:nvPr/>
        </p:nvCxnSpPr>
        <p:spPr>
          <a:xfrm>
            <a:off x="3697900" y="4214264"/>
            <a:ext cx="37709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C0D3A3FD-8541-6341-E822-9E8FADA5A814}"/>
              </a:ext>
            </a:extLst>
          </p:cNvPr>
          <p:cNvCxnSpPr>
            <a:cxnSpLocks/>
            <a:stCxn id="38" idx="1"/>
            <a:endCxn id="75" idx="1"/>
          </p:cNvCxnSpPr>
          <p:nvPr/>
        </p:nvCxnSpPr>
        <p:spPr>
          <a:xfrm rot="10800000" flipH="1" flipV="1">
            <a:off x="3754678" y="3613421"/>
            <a:ext cx="320315" cy="1102074"/>
          </a:xfrm>
          <a:prstGeom prst="bentConnector3">
            <a:avLst>
              <a:gd name="adj1" fmla="val -21847"/>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4632D11-CFD6-07EF-CEE1-AD7AE8A5E835}"/>
              </a:ext>
            </a:extLst>
          </p:cNvPr>
          <p:cNvCxnSpPr>
            <a:cxnSpLocks/>
            <a:endCxn id="74" idx="1"/>
          </p:cNvCxnSpPr>
          <p:nvPr/>
        </p:nvCxnSpPr>
        <p:spPr>
          <a:xfrm>
            <a:off x="1884784" y="4214264"/>
            <a:ext cx="34118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129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EDEA-1A05-C8E8-FBA0-49CE6002CD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8DC8EB-BC48-D049-FCBD-598AFD196913}"/>
              </a:ext>
            </a:extLst>
          </p:cNvPr>
          <p:cNvSpPr txBox="1"/>
          <p:nvPr/>
        </p:nvSpPr>
        <p:spPr>
          <a:xfrm>
            <a:off x="1597742" y="403123"/>
            <a:ext cx="8996516" cy="646331"/>
          </a:xfrm>
          <a:prstGeom prst="rect">
            <a:avLst/>
          </a:prstGeom>
          <a:noFill/>
        </p:spPr>
        <p:txBody>
          <a:bodyPr wrap="square" rtlCol="0">
            <a:spAutoFit/>
          </a:bodyPr>
          <a:lstStyle/>
          <a:p>
            <a:pPr algn="ctr"/>
            <a:r>
              <a:rPr lang="en-US" sz="3600">
                <a:latin typeface="Bebas Neue" panose="020B0606020202050201" pitchFamily="34" charset="0"/>
              </a:rPr>
              <a:t>Statistics</a:t>
            </a:r>
            <a:endParaRPr lang="en-US" sz="3600" dirty="0">
              <a:latin typeface="Bebas Neue" panose="020B0606020202050201" pitchFamily="34" charset="0"/>
            </a:endParaRPr>
          </a:p>
        </p:txBody>
      </p:sp>
      <p:sp>
        <p:nvSpPr>
          <p:cNvPr id="7" name="TextBox 6">
            <a:extLst>
              <a:ext uri="{FF2B5EF4-FFF2-40B4-BE49-F238E27FC236}">
                <a16:creationId xmlns:a16="http://schemas.microsoft.com/office/drawing/2014/main" id="{1A8BBFC4-26AF-2BD5-B5DB-5EBC10022B56}"/>
              </a:ext>
            </a:extLst>
          </p:cNvPr>
          <p:cNvSpPr txBox="1"/>
          <p:nvPr/>
        </p:nvSpPr>
        <p:spPr>
          <a:xfrm>
            <a:off x="1597742" y="1049454"/>
            <a:ext cx="8996516" cy="4524315"/>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Statistics is a branch of mathematics concerned with collecting, organizing, analyzing, and interpreting numerical </a:t>
            </a:r>
            <a:r>
              <a:rPr lang="en-US" sz="2400" b="1" dirty="0">
                <a:latin typeface="Open Sans" pitchFamily="2" charset="0"/>
                <a:ea typeface="Open Sans" pitchFamily="2" charset="0"/>
                <a:cs typeface="Open Sans" pitchFamily="2" charset="0"/>
              </a:rPr>
              <a:t>data</a:t>
            </a:r>
            <a:r>
              <a:rPr lang="en-US" sz="2400" dirty="0">
                <a:latin typeface="Open Sans" pitchFamily="2" charset="0"/>
                <a:ea typeface="Open Sans" pitchFamily="2" charset="0"/>
                <a:cs typeface="Open Sans" pitchFamily="2" charset="0"/>
              </a:rPr>
              <a:t>. It is recognized as a distinct scientific discipline due to its broad applications across numerous fields, including science, economics, healthcare, social sciences, and </a:t>
            </a:r>
            <a:r>
              <a:rPr lang="en-US" sz="2400" b="1" dirty="0">
                <a:latin typeface="Open Sans" pitchFamily="2" charset="0"/>
                <a:ea typeface="Open Sans" pitchFamily="2" charset="0"/>
                <a:cs typeface="Open Sans" pitchFamily="2" charset="0"/>
              </a:rPr>
              <a:t>data science</a:t>
            </a:r>
            <a:r>
              <a:rPr lang="en-US" sz="2400" dirty="0">
                <a:latin typeface="Open Sans" pitchFamily="2" charset="0"/>
                <a:ea typeface="Open Sans" pitchFamily="2" charset="0"/>
                <a:cs typeface="Open Sans" pitchFamily="2" charset="0"/>
              </a:rPr>
              <a:t>.</a:t>
            </a:r>
          </a:p>
          <a:p>
            <a:pPr algn="just"/>
            <a:endParaRPr lang="en-US" sz="2400" dirty="0">
              <a:latin typeface="Open Sans" pitchFamily="2" charset="0"/>
              <a:ea typeface="Open Sans" pitchFamily="2" charset="0"/>
              <a:cs typeface="Open Sans" pitchFamily="2" charset="0"/>
            </a:endParaRP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Helps make sense of complex data through quantitative models.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Plays a critical role in decision-making in fields like weather forecasting, stock market analysis, insurance, and data science.</a:t>
            </a:r>
          </a:p>
        </p:txBody>
      </p:sp>
    </p:spTree>
    <p:extLst>
      <p:ext uri="{BB962C8B-B14F-4D97-AF65-F5344CB8AC3E}">
        <p14:creationId xmlns:p14="http://schemas.microsoft.com/office/powerpoint/2010/main" val="2786295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4085-0461-D34D-C9D2-A6CB9248F1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67A7FF-BDEA-E33C-9EFD-5DB8F1D4FC6E}"/>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Data science</a:t>
            </a:r>
          </a:p>
        </p:txBody>
      </p:sp>
      <p:sp>
        <p:nvSpPr>
          <p:cNvPr id="7" name="TextBox 6">
            <a:extLst>
              <a:ext uri="{FF2B5EF4-FFF2-40B4-BE49-F238E27FC236}">
                <a16:creationId xmlns:a16="http://schemas.microsoft.com/office/drawing/2014/main" id="{21645B37-67C9-4937-BB1E-7AB78FA45843}"/>
              </a:ext>
            </a:extLst>
          </p:cNvPr>
          <p:cNvSpPr txBox="1"/>
          <p:nvPr/>
        </p:nvSpPr>
        <p:spPr>
          <a:xfrm>
            <a:off x="1597742" y="1049454"/>
            <a:ext cx="8996516" cy="3416320"/>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Data science is the domain of study that deals with vast volumes of data using modern tools and techniques to find unseen patterns, derive meaningful information, and make business decisions. </a:t>
            </a:r>
          </a:p>
          <a:p>
            <a:pPr algn="just"/>
            <a:endParaRPr lang="en-US" sz="2400" dirty="0">
              <a:latin typeface="Open Sans" pitchFamily="2" charset="0"/>
              <a:ea typeface="Open Sans" pitchFamily="2" charset="0"/>
              <a:cs typeface="Open Sans" pitchFamily="2" charset="0"/>
            </a:endParaRPr>
          </a:p>
          <a:p>
            <a:pPr algn="just"/>
            <a:r>
              <a:rPr lang="en-US" sz="2400" b="1" dirty="0">
                <a:latin typeface="Open Sans" pitchFamily="2" charset="0"/>
                <a:ea typeface="Open Sans" pitchFamily="2" charset="0"/>
                <a:cs typeface="Open Sans" pitchFamily="2" charset="0"/>
              </a:rPr>
              <a:t>Examples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Weather forecasting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Cricket batting average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Poll results before elections</a:t>
            </a:r>
          </a:p>
        </p:txBody>
      </p:sp>
    </p:spTree>
    <p:extLst>
      <p:ext uri="{BB962C8B-B14F-4D97-AF65-F5344CB8AC3E}">
        <p14:creationId xmlns:p14="http://schemas.microsoft.com/office/powerpoint/2010/main" val="1237877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7BD4-9991-E0BC-64EF-1465F8D51D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3D808E-F5F2-E98A-B82C-4E2ED9463E7E}"/>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 of statistics</a:t>
            </a:r>
          </a:p>
        </p:txBody>
      </p:sp>
      <p:sp>
        <p:nvSpPr>
          <p:cNvPr id="2" name="TextBox 1">
            <a:extLst>
              <a:ext uri="{FF2B5EF4-FFF2-40B4-BE49-F238E27FC236}">
                <a16:creationId xmlns:a16="http://schemas.microsoft.com/office/drawing/2014/main" id="{3D254F64-EA68-D1E2-24D3-A8DF6B144165}"/>
              </a:ext>
            </a:extLst>
          </p:cNvPr>
          <p:cNvSpPr txBox="1"/>
          <p:nvPr/>
        </p:nvSpPr>
        <p:spPr>
          <a:xfrm>
            <a:off x="1597742" y="1049454"/>
            <a:ext cx="8996516" cy="830997"/>
          </a:xfrm>
          <a:prstGeom prst="rect">
            <a:avLst/>
          </a:prstGeom>
          <a:noFill/>
        </p:spPr>
        <p:txBody>
          <a:bodyPr wrap="square" rtlCol="0">
            <a:spAutoFit/>
          </a:bodyPr>
          <a:lstStyle/>
          <a:p>
            <a:pPr marL="457200" indent="-457200" algn="just">
              <a:buFont typeface="+mj-lt"/>
              <a:buAutoNum type="arabicPeriod"/>
            </a:pPr>
            <a:r>
              <a:rPr lang="en-US" sz="2400" dirty="0">
                <a:latin typeface="Open Sans" pitchFamily="2" charset="0"/>
                <a:ea typeface="Open Sans" pitchFamily="2" charset="0"/>
                <a:cs typeface="Open Sans" pitchFamily="2" charset="0"/>
              </a:rPr>
              <a:t>Descriptive Statistics</a:t>
            </a:r>
          </a:p>
          <a:p>
            <a:pPr marL="457200" indent="-457200" algn="just">
              <a:buFont typeface="+mj-lt"/>
              <a:buAutoNum type="arabicPeriod"/>
            </a:pPr>
            <a:r>
              <a:rPr lang="en-US" sz="2400">
                <a:latin typeface="Open Sans" pitchFamily="2" charset="0"/>
                <a:ea typeface="Open Sans" pitchFamily="2" charset="0"/>
                <a:cs typeface="Open Sans" pitchFamily="2" charset="0"/>
              </a:rPr>
              <a:t>Inferential Statistics</a:t>
            </a: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130836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1387</Words>
  <Application>Microsoft Office PowerPoint</Application>
  <PresentationFormat>Widescreen</PresentationFormat>
  <Paragraphs>153</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Bebas Neue</vt:lpstr>
      <vt:lpstr>Calibri</vt:lpstr>
      <vt:lpstr>Calibri Light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 RIFAT REZA</dc:creator>
  <cp:lastModifiedBy>G M RIFAT REZA</cp:lastModifiedBy>
  <cp:revision>7</cp:revision>
  <dcterms:created xsi:type="dcterms:W3CDTF">2025-11-03T19:03:56Z</dcterms:created>
  <dcterms:modified xsi:type="dcterms:W3CDTF">2025-11-30T16:48:10Z</dcterms:modified>
</cp:coreProperties>
</file>